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8" r:id="rId28"/>
    <p:sldId id="266" r:id="rId16"/>
    <p:sldId id="281" r:id="rId31"/>
    <p:sldId id="279" r:id="rId29"/>
    <p:sldId id="267" r:id="rId17"/>
    <p:sldId id="280" r:id="rId30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28" Type="http://schemas.openxmlformats.org/officeDocument/2006/relationships/slide" Target="slides/slide23.xml"/>
  <Relationship Id="rId29" Type="http://schemas.openxmlformats.org/officeDocument/2006/relationships/slide" Target="slides/slide24.xml"/>
  <Relationship Id="rId30" Type="http://schemas.openxmlformats.org/officeDocument/2006/relationships/slide" Target="slides/slide25.xml"/>
<Relationship Id="rId31" Type="http://schemas.openxmlformats.org/officeDocument/2006/relationships/slide" Target="slides/slide2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22960" y="1965960"/>
            <a:ext cx="146304" cy="182880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88720" y="182880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 C++ al navegador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La tubería de compilación de WebAssembly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88720" y="48920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Kyungtak  ·  Integración y releases de LLVM, Google Toolchains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JSConf México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88720" y="6126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Sigue una línea de C++ hasta el interior de un motor de JavaScript.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22960" y="640080"/>
            <a:ext cx="1801367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22960" y="658368"/>
            <a:ext cx="18013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CONTEXTO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Ya estás enviando WebAssembly a producción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22960" y="23317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024128" y="2587752"/>
            <a:ext cx="91440" cy="90525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280160" y="2569463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Figma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80160" y="3044952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Editor vectorial: C++ en la pestaña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416552" y="23317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617720" y="2587752"/>
            <a:ext cx="91440" cy="90525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873752" y="2569463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Photoshop Web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873752" y="3044952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El núcleo en C++ de Adobe, compilado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8010144" y="23317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211312" y="2587752"/>
            <a:ext cx="91440" cy="90525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467344" y="2569463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AutoCAD Web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67344" y="3044952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Décadas de C++, en un navegador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822960" y="3950208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024128" y="4206240"/>
            <a:ext cx="91440" cy="90525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280160" y="4187952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Google Earth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80160" y="466344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Motor 3D como WebAssembly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416552" y="3950208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617720" y="4206240"/>
            <a:ext cx="91440" cy="90525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4873752" y="4187952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Juegos en el navegador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873752" y="466344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Unity / Unreal → WASM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8010144" y="3950208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211312" y="4206240"/>
            <a:ext cx="91440" cy="90525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467344" y="4187952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Tus dependencias de npm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467344" y="466344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Shiki ejecuta Oniguruma como WASM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Apps reales de producción que tus usuarios abren cada día: código compilado corriendo junto a tu JavaScript.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097280" y="219456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¿Cómo hace una línea de C++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para correr en un navegador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de forma segura y rápida?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No «se compila a WASM». Paso a paso: qué le pasa de verdad.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22960" y="640080"/>
            <a:ext cx="2130552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822960" y="658368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¿Por qué no solo JavaScript?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822960" y="2468880"/>
            <a:ext cx="3429000" cy="27432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22960" y="2468880"/>
            <a:ext cx="3429000" cy="12801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143000" y="288036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Cómputo pesado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43000" y="3749039"/>
            <a:ext cx="2788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Códecs, física, filtros de imagen. Un buen JIT puede igualar un bucle ajustado; no puede prometerlo, y no tiene SIMD.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416552" y="2468880"/>
            <a:ext cx="3429000" cy="27432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416552" y="2468880"/>
            <a:ext cx="3429000" cy="12801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4736592" y="288036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Un destino de compilación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736592" y="3749039"/>
            <a:ext cx="2788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Otros lenguajes (C++, Rust) necesitaban un lugar donde aterrizar.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8010144" y="2468880"/>
            <a:ext cx="3429000" cy="27432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010144" y="2468880"/>
            <a:ext cx="3429000" cy="128016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8330183" y="288036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Velocidad predecible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30183" y="3749039"/>
            <a:ext cx="2788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Las pausas del GC y los JIT hacen difícil prometer el peor caso.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JavaScript es un pegamento brillante. Necesitábamos un segundo contrato para el trabajo pesado.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22960" y="640080"/>
            <a:ext cx="1965960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22960" y="6583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Qué es WebAssembly en realidad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822960" y="2377440"/>
            <a:ext cx="10543032" cy="155448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1188720" y="2606040"/>
            <a:ext cx="9875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 formato de instrucciones binario, </a:t>
            </a:r>
            <a:r>
              <a:rPr b="1" i="0" lang="en-US" sz="24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portable, aislado y de tipado estático</a:t>
            </a:r>
            <a:r>
              <a:rPr b="0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Un destino de compilación, no un lenguaje.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22960" y="429768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Rara vez se escribe a mano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Es un ensamblador que el motor acepta ejecutar.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416552" y="429768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Vive junto a tu JS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Mismo motor, misma página. JS puede leer su memoria directamente.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010144" y="429768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«Un CPU con forma de contrato»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De bajo nivel, pero verificable y seguro.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22960" y="502920"/>
            <a:ext cx="147218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822960" y="521208"/>
            <a:ext cx="1472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MAPA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La tubería completa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822960" y="210312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005840" y="224942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005840" y="25603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 / C++</a:t>
            </a:r>
            <a:r>
              <a:rPr b="1" i="0" lang="en-US" sz="1600" u="none" cap="none" strike="noStrike">
                <a:solidFill>
                  <a:srgbClr val="6A6280"/>
                </a:solidFill>
                <a:latin typeface="Georgia"/>
                <a:ea typeface="Georgia"/>
                <a:cs typeface="Georgia"/>
                <a:sym typeface="Georgia"/>
              </a:rPr>
              <a:t> · </a:t>
            </a:r>
            <a:r>
              <a:rPr b="1" i="0" lang="en-US" sz="1600" u="none" cap="none" strike="noStrike">
                <a:solidFill>
                  <a:srgbClr val="C2561B"/>
                </a:solidFill>
                <a:latin typeface="Georgia"/>
                <a:ea typeface="Georgia"/>
                <a:cs typeface="Georgia"/>
                <a:sym typeface="Georgia"/>
              </a:rPr>
              <a:t>Rust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005840" y="2971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add(a, b)</a:t>
            </a:r>
            <a:r>
              <a:rPr b="0" i="0" lang="en-US" sz="1100" u="none" cap="none" strike="noStrike">
                <a:solidFill>
                  <a:srgbClr val="C2561B"/>
                </a:solidFill>
                <a:latin typeface="Consolas"/>
                <a:ea typeface="Consolas"/>
                <a:cs typeface="Consolas"/>
                <a:sym typeface="Consolas"/>
              </a:rPr>
              <a:t>  ·  fn add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3310128" y="2651760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502152" y="210312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3685032" y="224942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685032" y="25603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Clang</a:t>
            </a:r>
            <a:r>
              <a:rPr b="1" i="0" lang="en-US" sz="1600" u="none" cap="none" strike="noStrike">
                <a:solidFill>
                  <a:srgbClr val="6A6280"/>
                </a:solidFill>
                <a:latin typeface="Georgia"/>
                <a:ea typeface="Georgia"/>
                <a:cs typeface="Georgia"/>
                <a:sym typeface="Georgia"/>
              </a:rPr>
              <a:t> · </a:t>
            </a:r>
            <a:r>
              <a:rPr b="1" i="0" lang="en-US" sz="1600" u="none" cap="none" strike="noStrike">
                <a:solidFill>
                  <a:srgbClr val="C2561B"/>
                </a:solidFill>
                <a:latin typeface="Georgia"/>
                <a:ea typeface="Georgia"/>
                <a:cs typeface="Georgia"/>
                <a:sym typeface="Georgia"/>
              </a:rPr>
              <a:t>rustc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685032" y="2971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parsear → bajar</a:t>
            </a:r>
            <a:r>
              <a:rPr b="0" i="0" lang="en-US" sz="1100" u="none" cap="none" strike="noStrike">
                <a:solidFill>
                  <a:srgbClr val="C2561B"/>
                </a:solidFill>
                <a:latin typeface="Consolas"/>
                <a:ea typeface="Consolas"/>
                <a:cs typeface="Consolas"/>
                <a:sym typeface="Consolas"/>
              </a:rPr>
              <a:t>  ·  MIR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989320" y="2651760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181344" y="210312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6364224" y="224942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IR</a:t>
            </a:r>
            <a:r>
              <a:rPr b="1" i="0" lang="en-US" sz="1050" u="none" cap="none" strike="noStrike">
                <a:solidFill>
                  <a:srgbClr val="C2561B"/>
                </a:solidFill>
                <a:latin typeface="Calibri"/>
                <a:ea typeface="Calibri"/>
                <a:cs typeface="Calibri"/>
                <a:sym typeface="Calibri"/>
              </a:rPr>
              <a:t>  · COMPARTIDO CON RUST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364224" y="25603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LLVM IR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364224" y="2971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SSA, sin destino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68512" y="2651760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860536" y="210312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043415" y="224942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OPTIMIZAR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043415" y="25603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pases de opt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043415" y="2971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inline · DCE · plegado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822960" y="3977639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005840" y="41239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005840" y="4434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Backend WASM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05840" y="48463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selección de instr.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3310128" y="4526279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502152" y="3977639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3685032" y="41239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ENLAZAR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685032" y="4434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wasm-ld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3685032" y="48463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LLD para WASM</a:t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5989320" y="4526279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181344" y="3977639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364224" y="41239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PULIR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364224" y="4434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wasm-opt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364224" y="48463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Binaryen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8668512" y="4526279"/>
            <a:ext cx="15544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8860536" y="3977639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9043415" y="41239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MOTOR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043415" y="4434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Motor V8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043415" y="48463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9A8EC"/>
                </a:solidFill>
                <a:latin typeface="Consolas"/>
                <a:ea typeface="Consolas"/>
                <a:cs typeface="Consolas"/>
                <a:sym typeface="Consolas"/>
              </a:rPr>
              <a:t>validar → ejecutar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22960" y="58521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El fuente es para humanos. El IR es para el optimizador. El .wasm es el producto que ejecuta el motor.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C2561B"/>
                </a:solidFill>
                <a:latin typeface="Calibri"/>
                <a:ea typeface="Calibri"/>
                <a:cs typeface="Calibri"/>
                <a:sym typeface="Calibri"/>
              </a:rPr>
              <a:t>Rust toma el mismo camino: rustc reemplaza a Clang y baja al mismo LLVM IR; wasm-ld es rust-lld. Del IR en adelante, cada caja es compartida.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22960" y="731520"/>
            <a:ext cx="2295144" cy="310896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22960" y="749808"/>
            <a:ext cx="2295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NUESTRO ESPÉCIMEN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 línea de código que seguimos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822960" y="2651760"/>
            <a:ext cx="10543032" cy="1554480"/>
          </a:xfrm>
          <a:prstGeom prst="roundRect">
            <a:avLst>
              <a:gd fmla="val 16667" name="adj"/>
            </a:avLst>
          </a:prstGeom>
          <a:solidFill>
            <a:srgbClr val="120D22"/>
          </a:solidFill>
          <a:ln cap="flat" cmpd="sng" w="19050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1280160" y="29718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-US" sz="2600" u="none" cap="none" strike="noStrike">
                <a:solidFill>
                  <a:srgbClr val="B9A8EC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n-US" sz="2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(int a, int b) {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a * 2 + b;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Trivial a propósito. Mira lo que la tubería le hace.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22960" y="640080"/>
            <a:ext cx="311810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22960" y="658368"/>
            <a:ext cx="3118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1 · FRONTEND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Clang convierte C++ en LLVM IR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822960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FUENTE  (para humanos)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097280" y="3063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int add(int a, int b) {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return a * 2 + b;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336792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11112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LLVM IR en -O0  (para el optimizador)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11112" y="3063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define i32 @_Z3addii(i32 %0, i32 %1)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%3 = alloca i32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%4 = alloca i32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store i32 %0, ptr %3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store i32 %1, ptr %4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%5 = load i32, ptr %3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%6 = mul nsw i32 %5,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%7 = load i32, ptr %4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%8 = add nsw i32 %6, %7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ret i32 %8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En -O0 Clang es literal: las variables viven en memoria y a*2 sigue siendo un mul. (C++ decoró add → _Z3addii.)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822960" y="640080"/>
            <a:ext cx="2788920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822960" y="65836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2 · POR QUÉ IR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El IR es el producto real, no el fuente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822960" y="246888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822960" y="25786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822960" y="324612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22960" y="33558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C++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822960" y="402336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822960" y="4133087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Rust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822960" y="480060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822960" y="4910327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Swift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4937760" y="3063240"/>
            <a:ext cx="2286000" cy="13716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937760" y="33832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LLVM IR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9326880" y="274320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9326880" y="28529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x86</a:t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9326880" y="352044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9326880" y="36301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ARM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9326880" y="4297680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9326880" y="44074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WASM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2926080" y="2724912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926080" y="3502152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926080" y="4279392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926080" y="5056631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315200" y="2999232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7315200" y="3776472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315200" y="4553712"/>
            <a:ext cx="192024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M lenguajes × N destinos se vuelve M + N. Ese desacople es lo que hace escalar a todo el ecosistema.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22960" y="640080"/>
            <a:ext cx="311810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822960" y="658368"/>
            <a:ext cx="3118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3 · OPTIMIZAR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La optimización, intuitivamente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822960" y="2184400"/>
            <a:ext cx="3429000" cy="2133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822960" y="2184400"/>
            <a:ext cx="3429000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1097280" y="2413000"/>
            <a:ext cx="28803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Eliminación de código muerto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1097280" y="28194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Borrar cómputos que nadie usa.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1097280" y="3327400"/>
            <a:ext cx="2880360" cy="812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1234440" y="3446780"/>
            <a:ext cx="26060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 = f();  // x nunca se lee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eliminado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4417060" y="2184400"/>
            <a:ext cx="3429000" cy="2133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417060" y="2184400"/>
            <a:ext cx="3429000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4691380" y="2413000"/>
            <a:ext cx="28803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Inlining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4691380" y="28194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Pegar funciones pequeñas dentro de quien las llama.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4691380" y="3327400"/>
            <a:ext cx="2880360" cy="812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828540" y="3446780"/>
            <a:ext cx="26060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add(2,3) → 2*2+3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y luego se pliega a 7</a:t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8009890" y="2184400"/>
            <a:ext cx="3429000" cy="2133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8009890" y="2184400"/>
            <a:ext cx="3429000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8284210" y="2413000"/>
            <a:ext cx="28803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Plegado de constantes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284210" y="28194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Calcular constantes al compilar.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8284210" y="3327400"/>
            <a:ext cx="2880360" cy="812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8421370" y="3446780"/>
            <a:ext cx="26060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* 21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42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822960" y="4470400"/>
            <a:ext cx="10515600" cy="1320800"/>
          </a:xfrm>
          <a:prstGeom prst="roundRect">
            <a:avLst>
              <a:gd fmla="val 8000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1066800" y="45847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LOS PASES QUE HICIERON EL TRABAJO EN ESTA CHARLA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1066800" y="4838700"/>
            <a:ext cx="1778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mem2reg / SROA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instcombine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GVN / CSE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LICM</a:t>
            </a:r>
          </a:p>
        </p:txBody>
      </p:sp>
      <p:sp>
        <p:nvSpPr>
          <p:cNvPr id="307" name="Google Shape;307;p22"/>
          <p:cNvSpPr txBox="1"/>
          <p:nvPr/>
        </p:nvSpPr>
        <p:spPr>
          <a:xfrm>
            <a:off x="2844800" y="4838700"/>
            <a:ext cx="33274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locales se vuelven valores SSA: el 9 → 3 de la diapositiva 11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álgebra por instrucción: mul 2 → shl 1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calcular una vez, reusar el valor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sacar del bucle el trabajo que no cambia</a:t>
            </a:r>
          </a:p>
        </p:txBody>
      </p:sp>
      <p:sp>
        <p:nvSpPr>
          <p:cNvPr id="308" name="Google Shape;308;p22"/>
          <p:cNvSpPr txBox="1"/>
          <p:nvPr/>
        </p:nvSpPr>
        <p:spPr>
          <a:xfrm>
            <a:off x="6172200" y="4838700"/>
            <a:ext cx="1778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loop unroll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loop / SLP vectorize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desvirtualización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IPSCCP / inlining</a:t>
            </a:r>
          </a:p>
        </p:txBody>
      </p:sp>
      <p:sp>
        <p:nvSpPr>
          <p:cNvPr id="309" name="Google Shape;309;p22"/>
          <p:cNvSpPr txBox="1"/>
          <p:nvPr/>
        </p:nvSpPr>
        <p:spPr>
          <a:xfrm>
            <a:off x="7950200" y="4838700"/>
            <a:ext cx="33274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cuerpos desenrollados, menos saltos (el hash)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bucles escalares a carriles SIMD, cuando puede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llamada virtual → directa cuando se conoce el tipo</a:t>
            </a:r>
          </a:p>
          <a:p>
            <a:pPr indent="0" lvl="0" marL="0" marR="0" rtl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constantes y cuerpos fluyen entre funciones</a:t>
            </a:r>
          </a:p>
        </p:txBody>
      </p:sp>
      <p:sp>
        <p:nvSpPr>
          <p:cNvPr id="302" name="Google Shape;302;p22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Pases sobre el IR. Mismo significado, menos máquina. -O2 / -O3 / -Oz eligen los preajustes.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822960" y="640080"/>
            <a:ext cx="3611879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822960" y="658368"/>
            <a:ext cx="3611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4 · EMITIR + ENLAZAR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Del IR a un binario .wasm</a:t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822960" y="2468880"/>
            <a:ext cx="10543032" cy="7498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5225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1005840" y="261518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1005840" y="26517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691640" y="258775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Backend WASM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4206240" y="2587752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Selección de instrucciones: IR → ops de WebAssembly.</a:t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822960" y="3337560"/>
            <a:ext cx="10543032" cy="7498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5225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1005840" y="348386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1005840" y="352044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1691640" y="345643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wasm-ld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4206240" y="3456432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El enlazador de LLVM (LLD) para WASM: resuelve símbolos, distribuye la memoria.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822960" y="4206240"/>
            <a:ext cx="10543032" cy="7498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5225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1005840" y="435254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1005840" y="438912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1691640" y="43251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.wasm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4206240" y="4325112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Un artefacto binario real y portable.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822960" y="5074920"/>
            <a:ext cx="10543032" cy="7498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5225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1005840" y="522122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1005840" y="525780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1691640" y="519379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wasm-opt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4206240" y="5193792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Binaryen pule el módulo entero en tamaño y velocidad.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Emscripten orquesta todo esto y añade el pegamento JS: runtime, shims de libc, sistema de archivos.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822960" y="640080"/>
            <a:ext cx="3447288" cy="310896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822960" y="658368"/>
            <a:ext cx="3447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PASO 5 · EL MOTOR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Dentro del motor de JavaScript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822960" y="2159000"/>
            <a:ext cx="5074920" cy="180340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1140460" y="2362200"/>
            <a:ext cx="44399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Validar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1140460" y="2794000"/>
            <a:ext cx="44399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verificación de tipos en una sola pasada sobre todo el módulo, antes de que nada se ejecute. Un módulo que falla nunca corre. El paso más barato y el más importante: es lo que permite a un navegador confiar en un binario de un desconocido.</a:t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6281420" y="2159000"/>
            <a:ext cx="5074920" cy="180340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6598920" y="2362200"/>
            <a:ext cx="44399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Compilar, dos veces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6598920" y="2794000"/>
            <a:ext cx="44399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Liftoff compila cada función rápido, con código mediocre, para que la página arranque ya. Luego V8 observa qué funciones están calientes y recompila solo esas con TurboFan, en un hilo de fondo. El primer render tras cambiar de build en la demo es código de Liftoff.</a:t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822960" y="4140200"/>
            <a:ext cx="5074920" cy="180340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1140460" y="4343400"/>
            <a:ext cx="44399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Memoria lineal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1140460" y="4775200"/>
            <a:ext cx="44399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módulo recibe un ArrayBuffer y nada más. Un puntero es solo un índice dentro de él. Cada load y store se verifica contra los límites, así que el módulo no puede tocar nada fuera de su propio arreglo.</a:t>
            </a:r>
            <a:endParaRPr/>
          </a:p>
        </p:txBody>
      </p:sp>
      <p:sp>
        <p:nvSpPr>
          <p:cNvPr id="351" name="Google Shape;351;p24"/>
          <p:cNvSpPr/>
          <p:nvPr/>
        </p:nvSpPr>
        <p:spPr>
          <a:xfrm>
            <a:off x="6281420" y="4140200"/>
            <a:ext cx="5074920" cy="180340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6598920" y="4343400"/>
            <a:ext cx="44399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La frontera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6598920" y="4775200"/>
            <a:ext cx="44399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Solo los números cruzan directamente entre JavaScript y el módulo: i32, i64, f32, f64. Todo lo demás son bytes en ese arreglo. La siguiente diapositiva muestra lo que eso cuesta.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Validar → Liftoff → el código caliente sube de nivel en segundo plano → ejecutar. Seguro por construcción: tipos, límites, firmas.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822960" y="640080"/>
            <a:ext cx="229514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 txBox="1"/>
          <p:nvPr/>
        </p:nvSpPr>
        <p:spPr>
          <a:xfrm>
            <a:off x="822960" y="658368"/>
            <a:ext cx="2295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QUÉ FUNCIONA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Cuatro palabras, desmitificadas</a:t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822960" y="2286000"/>
            <a:ext cx="2499995" cy="3683000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 txBox="1"/>
          <p:nvPr/>
        </p:nvSpPr>
        <p:spPr>
          <a:xfrm>
            <a:off x="1076960" y="2514600"/>
            <a:ext cx="1991995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Máquina de pila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1076960" y="3276600"/>
            <a:ext cx="199199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Sin registros. Cada instrucción saca sus entradas de una pila tipada y mete su resultado: push a, push 1, shift, push b, add. Tan simple que el motor verifica cada instrucción en una pasada antes de ejecutar ninguna.</a:t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3500754" y="2286000"/>
            <a:ext cx="2499995" cy="3683000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3754754" y="2514600"/>
            <a:ext cx="1991995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Memoria lineal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3754754" y="3276600"/>
            <a:ext cx="199199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 el mundo del módulo es un arreglo plano y creciente de bytes. Un puntero de C++ es solo un índice dentro de él. Cada load y store se verifica contra los límites, y JavaScript ve los mismos bytes como un ArrayBuffer.</a:t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6178550" y="2286000"/>
            <a:ext cx="2499995" cy="36830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6432550" y="2514600"/>
            <a:ext cx="1991995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Caja de arena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6432550" y="3276600"/>
            <a:ext cx="199199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 es ambiental. Sin DOM, sin archivos, sin red, sin otra memoria. El módulo solo puede llamar a las funciones que JavaScript le entregó, y solo corre cuando la validación dice que cada instrucción está bien tipada.</a:t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8856345" y="2286000"/>
            <a:ext cx="2499995" cy="3683000"/>
          </a:xfrm>
          <a:prstGeom prst="roundRect">
            <a:avLst>
              <a:gd fmla="val 16667" name="adj"/>
            </a:avLst>
          </a:prstGeom>
          <a:solidFill>
            <a:srgbClr val="EFEAFC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9110345" y="2514600"/>
            <a:ext cx="1991995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Binario portable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9110345" y="3276600"/>
            <a:ext cx="199199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Un formato para cada CPU y cada motor. La cadena de herramientas decide qué dicen los bytes; el motor solo decide qué tan rápido corren. Los mismos bytes dan el mismo resultado en cualquier máquina.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822960" y="61722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Verificado una vez, encerrado en un arreglo, sin salida salvo los imports, los mismos bytes en todas partes: por eso un navegador puede correr un binario que nunca ha visto.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822960" y="640080"/>
            <a:ext cx="1801367" cy="310896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822960" y="658368"/>
            <a:ext cx="18013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822960" y="1143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Veámoslo correr</a:t>
            </a:r>
            <a:endParaRPr/>
          </a:p>
        </p:txBody>
      </p:sp>
      <p:pic>
        <p:nvPicPr>
          <p:cNvPr descr="demo-race-tab.png" id="382" name="Google Shape;3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1143000"/>
            <a:ext cx="5120640" cy="3413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6"/>
          <p:cNvSpPr/>
          <p:nvPr/>
        </p:nvSpPr>
        <p:spPr>
          <a:xfrm>
            <a:off x="822960" y="2331720"/>
            <a:ext cx="109728" cy="60960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1097280" y="2331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1 · La tubería, en vivo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1097280" y="2611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add() → una plantilla que desaparece → constexpr → una llamada virtual. Fuente, IR en -O0, IR en -O2, texto WASM y los bytes, para cada uno.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822960" y="3169920"/>
            <a:ext cx="109728" cy="60960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1097280" y="31699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2 · El optimizador, medido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1097280" y="34493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 contra el mismo C++ en -O0, -O1, -O2, -O3 y -O3 con SIMD. Mismo fuente, mismo motor, píxeles idénticos.</a:t>
            </a: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822960" y="4008120"/>
            <a:ext cx="109728" cy="60960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1097280" y="40081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3 · El laboratorio de la frontera</a:t>
            </a:r>
            <a:endParaRPr/>
          </a:p>
        </p:txBody>
      </p:sp>
      <p:sp>
        <p:nvSpPr>
          <p:cNvPr id="391" name="Google Shape;391;p26"/>
          <p:cNvSpPr txBox="1"/>
          <p:nvPr/>
        </p:nvSpPr>
        <p:spPr>
          <a:xfrm>
            <a:off x="1097280" y="42875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add(20, 2) · un i64 llega como BigInt · un string es puntero + longitud · memory.grow() desconecta todas las vistas.</a:t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822960" y="4846320"/>
            <a:ext cx="109728" cy="60960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1097280" y="48463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4 · Donde JavaScript no puede empatar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1097280" y="5125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hash de 64 bits de cuatro maneras: BigInt, mitades de 32 bits a mano, C++ en -O0 y -O3. El mismo hash en los cuatro; los tiempos no.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6126480" y="466648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La pestaña de la carrera: seis builds de un archivo C++, píxeles idénticos, los milisegundos cuentan la historia.</a:t>
            </a:r>
            <a:endParaRPr/>
          </a:p>
        </p:txBody>
      </p:sp>
      <p:sp>
        <p:nvSpPr>
          <p:cNvPr id="397" name="Google Shape;397;p26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9A8EC"/>
                </a:solidFill>
                <a:latin typeface="Consolas"/>
                <a:ea typeface="Consolas"/>
                <a:cs typeface="Consolas"/>
                <a:sym typeface="Consolas"/>
              </a:rPr>
              <a:t>kevinwkt.github.io/from-cpp-to-the-browser/demo    teclas: 1 2 3 4 · R carrera (2 o 4) · S sorpresa · Z alejar · 0 reset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822960" y="2194560"/>
            <a:ext cx="146304" cy="219456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1188720" y="2148840"/>
            <a:ext cx="10058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B6A6"/>
                </a:solidFill>
                <a:latin typeface="Calibri"/>
                <a:ea typeface="Calibri"/>
                <a:cs typeface="Calibri"/>
                <a:sym typeface="Calibri"/>
              </a:rPr>
              <a:t>ACTO II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 sala de máquinas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1188720" y="47548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Todo hasta ahora fue el camino feliz.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1188720" y="56692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Ahora: lo que cuesta operar esta tubería para miles de ingenieros.</a:t>
            </a:r>
            <a:endParaRPr/>
          </a:p>
        </p:txBody>
      </p:sp>
      <p:sp>
        <p:nvSpPr>
          <p:cNvPr id="406" name="Google Shape;406;p2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822960" y="640080"/>
            <a:ext cx="1965960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822960" y="6583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 TRABAJO DIARIO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822960" y="1097280"/>
            <a:ext cx="10607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Tomo el LLVM de upstream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y lo aterrizo dentro de Google.</a:t>
            </a:r>
            <a:endParaRPr/>
          </a:p>
        </p:txBody>
      </p:sp>
      <p:sp>
        <p:nvSpPr>
          <p:cNvPr id="415" name="Google Shape;415;p28"/>
          <p:cNvSpPr/>
          <p:nvPr/>
        </p:nvSpPr>
        <p:spPr>
          <a:xfrm>
            <a:off x="822960" y="3063240"/>
            <a:ext cx="5074920" cy="12070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822960" y="3063240"/>
            <a:ext cx="109728" cy="1207008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Integración</a:t>
            </a:r>
            <a:endParaRPr/>
          </a:p>
        </p:txBody>
      </p:sp>
      <p:sp>
        <p:nvSpPr>
          <p:cNvPr id="418" name="Google Shape;418;p28"/>
          <p:cNvSpPr txBox="1"/>
          <p:nvPr/>
        </p:nvSpPr>
        <p:spPr>
          <a:xfrm>
            <a:off x="1143000" y="37216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Construir el compilador de código abierto contra una base de código interna gigante.</a:t>
            </a:r>
            <a:endParaRPr/>
          </a:p>
        </p:txBody>
      </p:sp>
      <p:sp>
        <p:nvSpPr>
          <p:cNvPr id="419" name="Google Shape;419;p28"/>
          <p:cNvSpPr/>
          <p:nvPr/>
        </p:nvSpPr>
        <p:spPr>
          <a:xfrm>
            <a:off x="6281928" y="3063240"/>
            <a:ext cx="5074920" cy="12070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6281928" y="3063240"/>
            <a:ext cx="109728" cy="1207008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 txBox="1"/>
          <p:nvPr/>
        </p:nvSpPr>
        <p:spPr>
          <a:xfrm>
            <a:off x="6601968" y="3246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Trenes de release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6601968" y="37216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Mover a todos a un compilador más nuevo sin romperle nada a nadie.</a:t>
            </a: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822960" y="4480560"/>
            <a:ext cx="5074920" cy="12070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822960" y="4480560"/>
            <a:ext cx="109728" cy="1207008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1143000" y="4663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Reproducibilidad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1143000" y="51389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Mismas entradas → mismos bits, en cada máquina, para siempre.</a:t>
            </a: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6281928" y="4480560"/>
            <a:ext cx="5074920" cy="1207008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6281928" y="4480560"/>
            <a:ext cx="109728" cy="1207008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6601968" y="4663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Acceso de commit en upstream</a:t>
            </a:r>
            <a:endParaRPr/>
          </a:p>
        </p:txBody>
      </p:sp>
      <p:sp>
        <p:nvSpPr>
          <p:cNvPr id="430" name="Google Shape;430;p28"/>
          <p:cNvSpPr txBox="1"/>
          <p:nvPr/>
        </p:nvSpPr>
        <p:spPr>
          <a:xfrm>
            <a:off x="6601968" y="51389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Arreglar los problemas en el origen y devolverlos.</a:t>
            </a:r>
            <a:endParaRPr/>
          </a:p>
        </p:txBody>
      </p:sp>
      <p:sp>
        <p:nvSpPr>
          <p:cNvPr id="431" name="Google Shape;431;p2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822960" y="731520"/>
            <a:ext cx="1801367" cy="310896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 txBox="1"/>
          <p:nvPr/>
        </p:nvSpPr>
        <p:spPr>
          <a:xfrm>
            <a:off x="822960" y="749808"/>
            <a:ext cx="18013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HISTORIA DE GUERRA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Una actualización «correcta» del compilador.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Un puñado de binarios sutilmente mal.</a:t>
            </a:r>
            <a:endParaRPr/>
          </a:p>
        </p:txBody>
      </p:sp>
      <p:sp>
        <p:nvSpPr>
          <p:cNvPr id="440" name="Google Shape;440;p29"/>
          <p:cNvSpPr/>
          <p:nvPr/>
        </p:nvSpPr>
        <p:spPr>
          <a:xfrm>
            <a:off x="822960" y="310896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822960" y="314553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442" name="Google Shape;442;p29"/>
          <p:cNvSpPr txBox="1"/>
          <p:nvPr/>
        </p:nvSpPr>
        <p:spPr>
          <a:xfrm>
            <a:off x="1508760" y="309067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Todo en verde</a:t>
            </a:r>
            <a:endParaRPr/>
          </a:p>
        </p:txBody>
      </p:sp>
      <p:sp>
        <p:nvSpPr>
          <p:cNvPr id="443" name="Google Shape;443;p29"/>
          <p:cNvSpPr txBox="1"/>
          <p:nvPr/>
        </p:nvSpPr>
        <p:spPr>
          <a:xfrm>
            <a:off x="4754880" y="3090672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Todas las pruebas pasaron. La actualización se veía completamente limpia.</a:t>
            </a:r>
            <a:endParaRPr/>
          </a:p>
        </p:txBody>
      </p:sp>
      <p:sp>
        <p:nvSpPr>
          <p:cNvPr id="444" name="Google Shape;444;p29"/>
          <p:cNvSpPr/>
          <p:nvPr/>
        </p:nvSpPr>
        <p:spPr>
          <a:xfrm>
            <a:off x="822960" y="3950208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822960" y="398678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446" name="Google Shape;446;p29"/>
          <p:cNvSpPr txBox="1"/>
          <p:nvPr/>
        </p:nvSpPr>
        <p:spPr>
          <a:xfrm>
            <a:off x="1508760" y="3931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Equivocado con confianza</a:t>
            </a:r>
            <a:endParaRPr/>
          </a:p>
        </p:txBody>
      </p:sp>
      <p:sp>
        <p:nvSpPr>
          <p:cNvPr id="447" name="Google Shape;447;p29"/>
          <p:cNvSpPr txBox="1"/>
          <p:nvPr/>
        </p:nvSpPr>
        <p:spPr>
          <a:xfrm>
            <a:off x="4754880" y="393192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un crash: unos pocos binarios producían una salida sutilmente incorrecta.</a:t>
            </a:r>
            <a:endParaRPr/>
          </a:p>
        </p:txBody>
      </p:sp>
      <p:sp>
        <p:nvSpPr>
          <p:cNvPr id="448" name="Google Shape;448;p29"/>
          <p:cNvSpPr/>
          <p:nvPr/>
        </p:nvSpPr>
        <p:spPr>
          <a:xfrm>
            <a:off x="822960" y="4791456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822960" y="48280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450" name="Google Shape;450;p29"/>
          <p:cNvSpPr txBox="1"/>
          <p:nvPr/>
        </p:nvSpPr>
        <p:spPr>
          <a:xfrm>
            <a:off x="1508760" y="477316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Bisecar a escala</a:t>
            </a:r>
            <a:endParaRPr/>
          </a:p>
        </p:txBody>
      </p:sp>
      <p:sp>
        <p:nvSpPr>
          <p:cNvPr id="451" name="Google Shape;451;p29"/>
          <p:cNvSpPr txBox="1"/>
          <p:nvPr/>
        </p:nvSpPr>
        <p:spPr>
          <a:xfrm>
            <a:off x="4754880" y="4773168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Acotar un rango de cambios de upstream a través de muchos destinos.</a:t>
            </a:r>
            <a:endParaRPr/>
          </a:p>
        </p:txBody>
      </p:sp>
      <p:sp>
        <p:nvSpPr>
          <p:cNvPr id="452" name="Google Shape;452;p29"/>
          <p:cNvSpPr/>
          <p:nvPr/>
        </p:nvSpPr>
        <p:spPr>
          <a:xfrm>
            <a:off x="822960" y="563270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 txBox="1"/>
          <p:nvPr/>
        </p:nvSpPr>
        <p:spPr>
          <a:xfrm>
            <a:off x="822960" y="566928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454" name="Google Shape;454;p29"/>
          <p:cNvSpPr txBox="1"/>
          <p:nvPr/>
        </p:nvSpPr>
        <p:spPr>
          <a:xfrm>
            <a:off x="1508760" y="5614416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El punto: confianza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4754880" y="5614416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escala, «compila» no es la vara. Lo es una corrección en la que puedas confiar.</a:t>
            </a:r>
            <a:endParaRPr/>
          </a:p>
        </p:txBody>
      </p:sp>
      <p:sp>
        <p:nvSpPr>
          <p:cNvPr id="456" name="Google Shape;456;p2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822960" y="640080"/>
            <a:ext cx="1636776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822960" y="658368"/>
            <a:ext cx="1636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ESCALA</a:t>
            </a:r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La reproducibilidad convierte una herramienta en infraestructura</a:t>
            </a:r>
            <a:endParaRPr/>
          </a:p>
        </p:txBody>
      </p:sp>
      <p:sp>
        <p:nvSpPr>
          <p:cNvPr id="465" name="Google Shape;465;p30"/>
          <p:cNvSpPr/>
          <p:nvPr/>
        </p:nvSpPr>
        <p:spPr>
          <a:xfrm>
            <a:off x="822960" y="2514600"/>
            <a:ext cx="10543032" cy="13716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1188720" y="274320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Mismas entradas  →  los mismos bits, cada vez.</a:t>
            </a:r>
            <a:endParaRPr/>
          </a:p>
        </p:txBody>
      </p:sp>
      <p:sp>
        <p:nvSpPr>
          <p:cNvPr id="467" name="Google Shape;467;p30"/>
          <p:cNvSpPr txBox="1"/>
          <p:nvPr/>
        </p:nvSpPr>
        <p:spPr>
          <a:xfrm>
            <a:off x="822960" y="4251960"/>
            <a:ext cx="3429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Builds herméticos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Entradas selladas; nada se filtra desde la máquina.</a:t>
            </a:r>
            <a:endParaRPr/>
          </a:p>
        </p:txBody>
      </p:sp>
      <p:sp>
        <p:nvSpPr>
          <p:cNvPr id="468" name="Google Shape;468;p30"/>
          <p:cNvSpPr txBox="1"/>
          <p:nvPr/>
        </p:nvSpPr>
        <p:spPr>
          <a:xfrm>
            <a:off x="4416552" y="4251960"/>
            <a:ext cx="3429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Toolchains fijadas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Todos en una versión exacta y conocida del compilador.</a:t>
            </a:r>
            <a:endParaRPr/>
          </a:p>
        </p:txBody>
      </p:sp>
      <p:sp>
        <p:nvSpPr>
          <p:cNvPr id="469" name="Google Shape;469;p30"/>
          <p:cNvSpPr txBox="1"/>
          <p:nvPr/>
        </p:nvSpPr>
        <p:spPr>
          <a:xfrm>
            <a:off x="8010144" y="4251960"/>
            <a:ext cx="3429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Bit por bit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Dos builds del mismo código son idénticos byte a byte.</a:t>
            </a:r>
            <a:endParaRPr/>
          </a:p>
        </p:txBody>
      </p:sp>
      <p:sp>
        <p:nvSpPr>
          <p:cNvPr id="470" name="Google Shape;470;p3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Es lo que permite a miles de ingenieros confiar en la toolchain lo suficiente como para nunca pensar en ella.</a:t>
            </a:r>
            <a:endParaRPr/>
          </a:p>
        </p:txBody>
      </p:sp>
      <p:sp>
        <p:nvSpPr>
          <p:cNvPr id="471" name="Google Shape;471;p3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822960" y="640080"/>
            <a:ext cx="1801367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1"/>
          <p:cNvSpPr txBox="1"/>
          <p:nvPr/>
        </p:nvSpPr>
        <p:spPr>
          <a:xfrm>
            <a:off x="822960" y="658368"/>
            <a:ext cx="18013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SEAMOS HONESTOS</a:t>
            </a:r>
            <a:endParaRPr/>
          </a:p>
        </p:txBody>
      </p:sp>
      <p:sp>
        <p:nvSpPr>
          <p:cNvPr id="479" name="Google Shape;479;p31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Los bordes filosos</a:t>
            </a:r>
            <a:endParaRPr/>
          </a:p>
        </p:txBody>
      </p:sp>
      <p:sp>
        <p:nvSpPr>
          <p:cNvPr id="480" name="Google Shape;480;p31"/>
          <p:cNvSpPr/>
          <p:nvPr/>
        </p:nvSpPr>
        <p:spPr>
          <a:xfrm>
            <a:off x="822960" y="2514600"/>
            <a:ext cx="5074920" cy="1371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1"/>
          <p:cNvSpPr txBox="1"/>
          <p:nvPr/>
        </p:nvSpPr>
        <p:spPr>
          <a:xfrm>
            <a:off x="1143000" y="2743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Depurar es más difícil</a:t>
            </a:r>
            <a:endParaRPr/>
          </a:p>
        </p:txBody>
      </p:sp>
      <p:sp>
        <p:nvSpPr>
          <p:cNvPr id="482" name="Google Shape;482;p31"/>
          <p:cNvSpPr txBox="1"/>
          <p:nvPr/>
        </p:nvSpPr>
        <p:spPr>
          <a:xfrm>
            <a:off x="1143000" y="32461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DWARF en wasm y los source maps existen, pero van detrás de lo nativo.</a:t>
            </a:r>
            <a:endParaRPr/>
          </a:p>
        </p:txBody>
      </p:sp>
      <p:sp>
        <p:nvSpPr>
          <p:cNvPr id="483" name="Google Shape;483;p31"/>
          <p:cNvSpPr/>
          <p:nvPr/>
        </p:nvSpPr>
        <p:spPr>
          <a:xfrm>
            <a:off x="6281928" y="2514600"/>
            <a:ext cx="5074920" cy="1371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6601968" y="2743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La frontera cuesta</a:t>
            </a:r>
            <a:endParaRPr/>
          </a:p>
        </p:txBody>
      </p:sp>
      <p:sp>
        <p:nvSpPr>
          <p:cNvPr id="485" name="Google Shape;485;p31"/>
          <p:cNvSpPr txBox="1"/>
          <p:nvPr/>
        </p:nvSpPr>
        <p:spPr>
          <a:xfrm>
            <a:off x="6601968" y="32461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Cruzar JS ↔ WASM y copiar datos no es gratis.</a:t>
            </a:r>
            <a:endParaRPr/>
          </a:p>
        </p:txBody>
      </p:sp>
      <p:sp>
        <p:nvSpPr>
          <p:cNvPr id="486" name="Google Shape;486;p31"/>
          <p:cNvSpPr/>
          <p:nvPr/>
        </p:nvSpPr>
        <p:spPr>
          <a:xfrm>
            <a:off x="822960" y="4114800"/>
            <a:ext cx="5074920" cy="1371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1"/>
          <p:cNvSpPr txBox="1"/>
          <p:nvPr/>
        </p:nvSpPr>
        <p:spPr>
          <a:xfrm>
            <a:off x="1143000" y="4343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Las herramientas siguen cambiando</a:t>
            </a:r>
            <a:endParaRPr/>
          </a:p>
        </p:txBody>
      </p:sp>
      <p:sp>
        <p:nvSpPr>
          <p:cNvPr id="488" name="Google Shape;488;p31"/>
          <p:cNvSpPr txBox="1"/>
          <p:nvPr/>
        </p:nvSpPr>
        <p:spPr>
          <a:xfrm>
            <a:off x="1143000" y="4846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La especificación se mueve rápido; lo «estable» es reciente, no antiguo.</a:t>
            </a:r>
            <a:endParaRPr/>
          </a:p>
        </p:txBody>
      </p:sp>
      <p:sp>
        <p:nvSpPr>
          <p:cNvPr id="489" name="Google Shape;489;p31"/>
          <p:cNvSpPr/>
          <p:nvPr/>
        </p:nvSpPr>
        <p:spPr>
          <a:xfrm>
            <a:off x="6281928" y="4114800"/>
            <a:ext cx="5074920" cy="1371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6601968" y="4343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No siempre gana</a:t>
            </a:r>
            <a:endParaRPr/>
          </a:p>
        </p:txBody>
      </p:sp>
      <p:sp>
        <p:nvSpPr>
          <p:cNvPr id="491" name="Google Shape;491;p31"/>
          <p:cNvSpPr txBox="1"/>
          <p:nvPr/>
        </p:nvSpPr>
        <p:spPr>
          <a:xfrm>
            <a:off x="6601968" y="4846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Para trabajo ligero con el DOM, JS a secas es más simple y a menudo más rápido.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Los diseños parlanchines entre JS y WASM pierden justo la velocidad que viniste a buscar. El encaje importa más que una tabla de posiciones.</a:t>
            </a:r>
            <a:endParaRPr/>
          </a:p>
        </p:txBody>
      </p:sp>
      <p:sp>
        <p:nvSpPr>
          <p:cNvPr id="493" name="Google Shape;493;p31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2"/>
          <p:cNvSpPr/>
          <p:nvPr/>
        </p:nvSpPr>
        <p:spPr>
          <a:xfrm>
            <a:off x="822960" y="640080"/>
            <a:ext cx="2953512" cy="310896"/>
          </a:xfrm>
          <a:prstGeom prst="roundRect">
            <a:avLst>
              <a:gd fmla="val 16667" name="adj"/>
            </a:avLst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2"/>
          <p:cNvSpPr txBox="1"/>
          <p:nvPr/>
        </p:nvSpPr>
        <p:spPr>
          <a:xfrm>
            <a:off x="822960" y="658368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HACIA DÓNDE VA</a:t>
            </a:r>
            <a:endParaRPr/>
          </a:p>
        </p:txBody>
      </p:sp>
      <p:sp>
        <p:nvSpPr>
          <p:cNvPr id="501" name="Google Shape;501;p3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WASM crece más allá del navegador</a:t>
            </a:r>
            <a:endParaRPr/>
          </a:p>
        </p:txBody>
      </p:sp>
      <p:sp>
        <p:nvSpPr>
          <p:cNvPr id="502" name="Google Shape;502;p32"/>
          <p:cNvSpPr/>
          <p:nvPr/>
        </p:nvSpPr>
        <p:spPr>
          <a:xfrm>
            <a:off x="822960" y="2560320"/>
            <a:ext cx="10543032" cy="96012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2"/>
          <p:cNvSpPr txBox="1"/>
          <p:nvPr/>
        </p:nvSpPr>
        <p:spPr>
          <a:xfrm>
            <a:off x="1143000" y="2724912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WASI 0.2: estable</a:t>
            </a:r>
            <a:endParaRPr/>
          </a:p>
        </p:txBody>
      </p:sp>
      <p:sp>
        <p:nvSpPr>
          <p:cNvPr id="504" name="Google Shape;504;p32"/>
          <p:cNvSpPr txBox="1"/>
          <p:nvPr/>
        </p:nvSpPr>
        <p:spPr>
          <a:xfrm>
            <a:off x="5212080" y="2724912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Enero 2024. Más el Component Model: interoperabilidad tipada entre lenguajes.</a:t>
            </a:r>
            <a:endParaRPr/>
          </a:p>
        </p:txBody>
      </p:sp>
      <p:sp>
        <p:nvSpPr>
          <p:cNvPr id="505" name="Google Shape;505;p32"/>
          <p:cNvSpPr/>
          <p:nvPr/>
        </p:nvSpPr>
        <p:spPr>
          <a:xfrm>
            <a:off x="822960" y="3657600"/>
            <a:ext cx="10543032" cy="96012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2"/>
          <p:cNvSpPr txBox="1"/>
          <p:nvPr/>
        </p:nvSpPr>
        <p:spPr>
          <a:xfrm>
            <a:off x="1143000" y="3822191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WASI 0.3: async</a:t>
            </a:r>
            <a:endParaRPr/>
          </a:p>
        </p:txBody>
      </p:sp>
      <p:sp>
        <p:nvSpPr>
          <p:cNvPr id="507" name="Google Shape;507;p32"/>
          <p:cNvSpPr txBox="1"/>
          <p:nvPr/>
        </p:nvSpPr>
        <p:spPr>
          <a:xfrm>
            <a:off x="5212080" y="3822191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 2026. Async nativo con futures y streams; en Wasmtime y jco.</a:t>
            </a:r>
            <a:endParaRPr/>
          </a:p>
        </p:txBody>
      </p:sp>
      <p:sp>
        <p:nvSpPr>
          <p:cNvPr id="508" name="Google Shape;508;p32"/>
          <p:cNvSpPr/>
          <p:nvPr/>
        </p:nvSpPr>
        <p:spPr>
          <a:xfrm>
            <a:off x="822960" y="4754880"/>
            <a:ext cx="10543032" cy="960120"/>
          </a:xfrm>
          <a:prstGeom prst="roundRect">
            <a:avLst>
              <a:gd fmla="val 16667" name="adj"/>
            </a:avLst>
          </a:prstGeom>
          <a:solidFill>
            <a:srgbClr val="2A2047"/>
          </a:solidFill>
          <a:ln cap="flat" cmpd="sng" w="15225">
            <a:solidFill>
              <a:srgbClr val="5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 txBox="1"/>
          <p:nvPr/>
        </p:nvSpPr>
        <p:spPr>
          <a:xfrm>
            <a:off x="1143000" y="4919472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Servidor y edge</a:t>
            </a:r>
            <a:endParaRPr/>
          </a:p>
        </p:txBody>
      </p:sp>
      <p:sp>
        <p:nvSpPr>
          <p:cNvPr id="510" name="Google Shape;510;p32"/>
          <p:cNvSpPr txBox="1"/>
          <p:nvPr/>
        </p:nvSpPr>
        <p:spPr>
          <a:xfrm>
            <a:off x="5212080" y="4919472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Wasmtime, Node, Deno y las plataformas edge corren los mismos binarios.</a:t>
            </a:r>
            <a:endParaRPr/>
          </a:p>
        </p:txBody>
      </p:sp>
      <p:sp>
        <p:nvSpPr>
          <p:cNvPr id="511" name="Google Shape;511;p32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Y Wasm 3.0 (sep 2025) añadió GC, así que Kotlin, Dart y Java ahora también compilan a él.</a:t>
            </a:r>
            <a:endParaRPr/>
          </a:p>
        </p:txBody>
      </p:sp>
      <p:sp>
        <p:nvSpPr>
          <p:cNvPr id="512" name="Google Shape;512;p32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3"/>
          <p:cNvSpPr/>
          <p:nvPr/>
        </p:nvSpPr>
        <p:spPr>
          <a:xfrm>
            <a:off x="822960" y="1737360"/>
            <a:ext cx="146304" cy="310896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3"/>
          <p:cNvSpPr txBox="1"/>
          <p:nvPr/>
        </p:nvSpPr>
        <p:spPr>
          <a:xfrm>
            <a:off x="1188720" y="173736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Empezamos con una línea de C++.</a:t>
            </a:r>
            <a:endParaRPr/>
          </a:p>
        </p:txBody>
      </p:sp>
      <p:sp>
        <p:nvSpPr>
          <p:cNvPr id="520" name="Google Shape;520;p33"/>
          <p:cNvSpPr txBox="1"/>
          <p:nvPr/>
        </p:nvSpPr>
        <p:spPr>
          <a:xfrm>
            <a:off x="1188720" y="274320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Bajada, optimizada, emitida, enlazada, pulida,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validada, compilada dos veces, y ahora corriendo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9A8EC"/>
                </a:solidFill>
                <a:latin typeface="Georgia"/>
                <a:ea typeface="Georgia"/>
                <a:cs typeface="Georgia"/>
                <a:sym typeface="Georgia"/>
              </a:rPr>
              <a:t>en una caja de arena en tu navegador.</a:t>
            </a:r>
            <a:endParaRPr/>
          </a:p>
        </p:txBody>
      </p:sp>
      <p:sp>
        <p:nvSpPr>
          <p:cNvPr id="521" name="Google Shape;521;p33"/>
          <p:cNvSpPr txBox="1"/>
          <p:nvPr/>
        </p:nvSpPr>
        <p:spPr>
          <a:xfrm>
            <a:off x="1188720" y="48006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El fuente nunca fue el producto.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La toolchain es el producto.</a:t>
            </a:r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822960" y="822960"/>
            <a:ext cx="146304" cy="210312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4"/>
          <p:cNvSpPr txBox="1"/>
          <p:nvPr/>
        </p:nvSpPr>
        <p:spPr>
          <a:xfrm>
            <a:off x="1188720" y="91440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Gracias.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Hablemos de compiladores y toolchains.</a:t>
            </a:r>
            <a:endParaRPr/>
          </a:p>
        </p:txBody>
      </p:sp>
      <p:sp>
        <p:nvSpPr>
          <p:cNvPr id="530" name="Google Shape;530;p34"/>
          <p:cNvSpPr/>
          <p:nvPr/>
        </p:nvSpPr>
        <p:spPr>
          <a:xfrm>
            <a:off x="822960" y="3566160"/>
            <a:ext cx="10543032" cy="201168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4"/>
          <p:cNvSpPr txBox="1"/>
          <p:nvPr/>
        </p:nvSpPr>
        <p:spPr>
          <a:xfrm>
            <a:off x="1280160" y="388620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Kyungtak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A6280"/>
                </a:solidFill>
                <a:latin typeface="Calibri"/>
                <a:ea typeface="Calibri"/>
                <a:cs typeface="Calibri"/>
                <a:sym typeface="Calibri"/>
              </a:rPr>
              <a:t>Integración y releases de LLVM, Google Toolchains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4B8A"/>
                </a:solidFill>
                <a:latin typeface="Consolas"/>
                <a:ea typeface="Consolas"/>
                <a:cs typeface="Consolas"/>
                <a:sym typeface="Consolas"/>
              </a:rPr>
              <a:t>Repo + diapositivas:  github.com/kevinwkt/from-cpp-to-the-browser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4B8A"/>
                </a:solidFill>
                <a:latin typeface="Consolas"/>
                <a:ea typeface="Consolas"/>
                <a:cs typeface="Consolas"/>
                <a:sym typeface="Consolas"/>
              </a:rPr>
              <a:t>Demo en vivo:   kevinwkt.github.io/from-cpp-to-the-browser/demo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4B8A"/>
                </a:solidFill>
                <a:latin typeface="Consolas"/>
                <a:ea typeface="Consolas"/>
                <a:cs typeface="Consolas"/>
                <a:sym typeface="Consolas"/>
              </a:rPr>
              <a:t>La grabación se publica después de la charla.</a:t>
            </a:r>
            <a:endParaRPr/>
          </a:p>
        </p:txBody>
      </p:sp>
      <p:sp>
        <p:nvSpPr>
          <p:cNvPr id="532" name="Google Shape;532;p3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22960" y="640080"/>
            <a:ext cx="311810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22960" y="658368"/>
            <a:ext cx="3118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3 · NUESTRO ESPÉCIMEN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Lo que -O2 le hizo a add()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822960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LLVM IR en -O2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097280" y="3063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define i32 @_Z3addii(i32 %0, i32 %1)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%3 = shl nsw i32 %0,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%4 = add nsw i32 %3, %1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ret i32 %4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336792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11112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QUÉ CAMBIÓ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11112" y="3063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alloca / store / load  →  desaparecen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mem2reg: los valores viven en registros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mul %a, 2  →  shl %a,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instcombine: un shift es más barato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instrucciones  →  3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Mismo significado, un tercio del trabajo. El truco a*2 → shift es del optimizador, no del frontend.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22960" y="640080"/>
            <a:ext cx="311810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22960" y="658368"/>
            <a:ext cx="3118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4 · NUESTRO ESPÉCIMEN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add() como WebAssembly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822960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TEXTO WASM  (wasm2wat add.wasm)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097280" y="3063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(func $add (param i32 i32) (result i32)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local.get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i32.const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i32.shl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local.get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i32.add)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336792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11112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LÉELO COMO UNA PILA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11112" y="3063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push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push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shift left     →  a*2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push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            →  a*2 + b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WASM es una máquina de pila. El archivo .wasm completo: unos 200 bytes, 14 de ellos código. La cuenta exacta depende de qué Clang lo construyó.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22960" y="640080"/>
            <a:ext cx="311810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22960" y="658368"/>
            <a:ext cx="3118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FRONTERA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Cruzar JS ↔ WASM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822960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TU LADO  (JavaScript)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097280" y="302260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// 1  fetch, validar, compilar: una llamada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const { instance } = await WebAssembly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.instantiateStreaming(fetch("add.wasm"));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// 2  llamar un export: entran números, salen números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instance.exports.add(20, 2);          // 42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// 3  mirar su memoria: una vista, no una copia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const { memory } = instance.exports;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const px = new Uint8ClampedArray(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C1430"/>
                </a:solidFill>
                <a:latin typeface="Consolas"/>
                <a:ea typeface="Consolas"/>
                <a:cs typeface="Consolas"/>
                <a:sym typeface="Consolas"/>
              </a:rPr>
              <a:t>  memory.buffer, ptr, w * h * 4);</a:t>
            </a:r>
          </a:p>
        </p:txBody>
      </p:sp>
      <p:sp>
        <p:nvSpPr>
          <p:cNvPr id="238" name="Google Shape;238;p20"/>
          <p:cNvSpPr/>
          <p:nvPr/>
        </p:nvSpPr>
        <p:spPr>
          <a:xfrm>
            <a:off x="6336792" y="2377440"/>
            <a:ext cx="5029200" cy="310896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11112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LO QUE MUERDE, Y DÓNDE LO VERÁS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11620" y="2946400"/>
            <a:ext cx="448056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Solo cruzan números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i32, i64, f32, f64. Un i64 llega como BigInt. Pestaña 3, tarjeta 2.</a:t>
            </a: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Strings y arreglos son puntero + longitud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Codifica a bytes, escríbelos en la memoria, pasa el índice y la cuenta. Pestaña 3, tarjeta 3.</a:t>
            </a: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memory.grow() desconecta las vistas viejas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ArrayBuffer se reemplaza; vuelve a crear tus typed arrays. Pestaña 3, tarjeta 5.</a:t>
            </a: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B6A6"/>
                </a:solidFill>
                <a:latin typeface="Georgia"/>
                <a:ea typeface="Georgia"/>
                <a:cs typeface="Georgia"/>
                <a:sym typeface="Georgia"/>
              </a:rPr>
              <a:t>Cruza una vez, trabaja mucho</a:t>
            </a: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llamada tiene un costo fijo. Entrega un cuadro, no un píxel.</a:t>
            </a:r>
          </a:p>
        </p:txBody>
      </p:sp>
      <p:sp>
        <p:nvSpPr>
          <p:cNvPr id="241" name="Google Shape;241;p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4B8A"/>
                </a:solidFill>
                <a:latin typeface="Calibri"/>
                <a:ea typeface="Calibri"/>
                <a:cs typeface="Calibri"/>
                <a:sym typeface="Calibri"/>
              </a:rPr>
              <a:t>Emscripten y wasm-bindgen escriben este pegamento por ti. Saber qué hace es cómo conservas la velocidad que viniste a buscar.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22960" y="640080"/>
            <a:ext cx="3118104" cy="310896"/>
          </a:xfrm>
          <a:prstGeom prst="roundRect">
            <a:avLst>
              <a:gd fmla="val 16667" name="adj"/>
            </a:avLst>
          </a:prstGeom>
          <a:solidFill>
            <a:srgbClr val="5B4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822960" y="658368"/>
            <a:ext cx="3118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4 · PULIR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C1430"/>
                </a:solidFill>
                <a:latin typeface="Georgia"/>
                <a:ea typeface="Georgia"/>
                <a:cs typeface="Georgia"/>
                <a:sym typeface="Georgia"/>
              </a:rPr>
              <a:t>wasm-opt: lo que hace Binaryen</a:t>
            </a:r>
            <a:endParaRPr/>
          </a:p>
        </p:txBody>
      </p:sp>
      <p:sp>
        <p:nvSpPr>
          <p:cNvPr id="2000" name="Google Shape;2000;p22"/>
          <p:cNvSpPr/>
          <p:nvPr/>
        </p:nvSpPr>
        <p:spPr>
          <a:xfrm>
            <a:off x="822960" y="2032000"/>
            <a:ext cx="2499995" cy="2895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22"/>
          <p:cNvSpPr/>
          <p:nvPr/>
        </p:nvSpPr>
        <p:spPr>
          <a:xfrm>
            <a:off x="822960" y="2032000"/>
            <a:ext cx="2499995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22"/>
          <p:cNvSpPr txBox="1"/>
          <p:nvPr/>
        </p:nvSpPr>
        <p:spPr>
          <a:xfrm>
            <a:off x="1051560" y="2260600"/>
            <a:ext cx="204279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Locales fusionadas</a:t>
            </a:r>
            <a:endParaRPr/>
          </a:p>
        </p:txBody>
      </p:sp>
      <p:sp>
        <p:nvSpPr>
          <p:cNvPr id="2003" name="Google Shape;2003;p22"/>
          <p:cNvSpPr txBox="1"/>
          <p:nvPr/>
        </p:nvSpPr>
        <p:spPr>
          <a:xfrm>
            <a:off x="1051560" y="2844800"/>
            <a:ext cx="20427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El backend de LLVM gasta una local por valor. Binaryen las reusa y deja los valores en la pila.</a:t>
            </a:r>
            <a:endParaRPr/>
          </a:p>
        </p:txBody>
      </p:sp>
      <p:sp>
        <p:nvSpPr>
          <p:cNvPr id="2004" name="Google Shape;2004;p22"/>
          <p:cNvSpPr/>
          <p:nvPr/>
        </p:nvSpPr>
        <p:spPr>
          <a:xfrm>
            <a:off x="1051560" y="3810000"/>
            <a:ext cx="2042795" cy="939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22"/>
          <p:cNvSpPr txBox="1"/>
          <p:nvPr/>
        </p:nvSpPr>
        <p:spPr>
          <a:xfrm>
            <a:off x="1153160" y="3911600"/>
            <a:ext cx="1839595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local.set 2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local.get 2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i32.add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i32.add, sin local</a:t>
            </a:r>
          </a:p>
        </p:txBody>
      </p:sp>
      <p:sp>
        <p:nvSpPr>
          <p:cNvPr id="2010" name="Google Shape;2010;p22"/>
          <p:cNvSpPr/>
          <p:nvPr/>
        </p:nvSpPr>
        <p:spPr>
          <a:xfrm>
            <a:off x="3500755" y="2032000"/>
            <a:ext cx="2499995" cy="2895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22"/>
          <p:cNvSpPr/>
          <p:nvPr/>
        </p:nvSpPr>
        <p:spPr>
          <a:xfrm>
            <a:off x="3500755" y="2032000"/>
            <a:ext cx="2499995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22"/>
          <p:cNvSpPr txBox="1"/>
          <p:nvPr/>
        </p:nvSpPr>
        <p:spPr>
          <a:xfrm>
            <a:off x="3729355" y="2260600"/>
            <a:ext cx="204279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Peepholes sobre ops WASM</a:t>
            </a:r>
            <a:endParaRPr/>
          </a:p>
        </p:txBody>
      </p:sp>
      <p:sp>
        <p:nvSpPr>
          <p:cNvPr id="2013" name="Google Shape;2013;p22"/>
          <p:cNvSpPr txBox="1"/>
          <p:nvPr/>
        </p:nvSpPr>
        <p:spPr>
          <a:xfrm>
            <a:off x="3729355" y="2844800"/>
            <a:ext cx="20427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Reescrituras que LLVM nunca ve, porque esas formas solo existen tras la selección de instrucciones.</a:t>
            </a:r>
            <a:endParaRPr/>
          </a:p>
        </p:txBody>
      </p:sp>
      <p:sp>
        <p:nvSpPr>
          <p:cNvPr id="2014" name="Google Shape;2014;p22"/>
          <p:cNvSpPr/>
          <p:nvPr/>
        </p:nvSpPr>
        <p:spPr>
          <a:xfrm>
            <a:off x="3729355" y="3810000"/>
            <a:ext cx="2042795" cy="939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22"/>
          <p:cNvSpPr txBox="1"/>
          <p:nvPr/>
        </p:nvSpPr>
        <p:spPr>
          <a:xfrm>
            <a:off x="3830955" y="3911600"/>
            <a:ext cx="1839595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c (then 1)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(else 0)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c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  (c ya es 0 o 1)</a:t>
            </a:r>
          </a:p>
        </p:txBody>
      </p:sp>
      <p:sp>
        <p:nvSpPr>
          <p:cNvPr id="2020" name="Google Shape;2020;p22"/>
          <p:cNvSpPr/>
          <p:nvPr/>
        </p:nvSpPr>
        <p:spPr>
          <a:xfrm>
            <a:off x="6178550" y="2032000"/>
            <a:ext cx="2499995" cy="2895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22"/>
          <p:cNvSpPr/>
          <p:nvPr/>
        </p:nvSpPr>
        <p:spPr>
          <a:xfrm>
            <a:off x="6178550" y="2032000"/>
            <a:ext cx="2499995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22"/>
          <p:cNvSpPr txBox="1"/>
          <p:nvPr/>
        </p:nvSpPr>
        <p:spPr>
          <a:xfrm>
            <a:off x="6407150" y="2260600"/>
            <a:ext cx="204279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Vista de todo el módulo</a:t>
            </a:r>
            <a:endParaRPr/>
          </a:p>
        </p:txBody>
      </p:sp>
      <p:sp>
        <p:nvSpPr>
          <p:cNvPr id="2023" name="Google Shape;2023;p22"/>
          <p:cNvSpPr txBox="1"/>
          <p:nvPr/>
        </p:nvSpPr>
        <p:spPr>
          <a:xfrm>
            <a:off x="6407150" y="2844800"/>
            <a:ext cx="20427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Todas las funciones a la vez: los cuerpos idénticos se fusionan, y lo que ningún export alcanza desaparece.</a:t>
            </a:r>
            <a:endParaRPr/>
          </a:p>
        </p:txBody>
      </p:sp>
      <p:sp>
        <p:nvSpPr>
          <p:cNvPr id="2024" name="Google Shape;2024;p22"/>
          <p:cNvSpPr/>
          <p:nvPr/>
        </p:nvSpPr>
        <p:spPr>
          <a:xfrm>
            <a:off x="6407150" y="3810000"/>
            <a:ext cx="2042795" cy="939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22"/>
          <p:cNvSpPr txBox="1"/>
          <p:nvPr/>
        </p:nvSpPr>
        <p:spPr>
          <a:xfrm>
            <a:off x="6508750" y="3911600"/>
            <a:ext cx="1839595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func $f … func $g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mismos bytes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una sola función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inalcanzable: fuera</a:t>
            </a:r>
          </a:p>
        </p:txBody>
      </p:sp>
      <p:sp>
        <p:nvSpPr>
          <p:cNvPr id="2030" name="Google Shape;2030;p22"/>
          <p:cNvSpPr/>
          <p:nvPr/>
        </p:nvSpPr>
        <p:spPr>
          <a:xfrm>
            <a:off x="8856345" y="2032000"/>
            <a:ext cx="2499995" cy="2895600"/>
          </a:xfrm>
          <a:prstGeom prst="roundRect">
            <a:avLst>
              <a:gd fmla="val 16667" name="adj"/>
            </a:avLst>
          </a:prstGeom>
          <a:solidFill>
            <a:srgbClr val="FAF8FF"/>
          </a:solidFill>
          <a:ln cap="flat" cmpd="sng" w="19050">
            <a:solidFill>
              <a:srgbClr val="EFEAFC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5000">
              <a:srgbClr val="1C1430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22"/>
          <p:cNvSpPr/>
          <p:nvPr/>
        </p:nvSpPr>
        <p:spPr>
          <a:xfrm>
            <a:off x="8856345" y="2032000"/>
            <a:ext cx="2499995" cy="128270"/>
          </a:xfrm>
          <a:prstGeom prst="rect">
            <a:avLst/>
          </a:prstGeom>
          <a:solidFill>
            <a:srgbClr val="1FB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22"/>
          <p:cNvSpPr txBox="1"/>
          <p:nvPr/>
        </p:nvSpPr>
        <p:spPr>
          <a:xfrm>
            <a:off x="9084945" y="2260600"/>
            <a:ext cx="204279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B4B8A"/>
                </a:solidFill>
                <a:latin typeface="Georgia"/>
                <a:ea typeface="Georgia"/>
                <a:cs typeface="Georgia"/>
                <a:sym typeface="Georgia"/>
              </a:rPr>
              <a:t>Empaquetado de memoria</a:t>
            </a:r>
            <a:endParaRPr/>
          </a:p>
        </p:txBody>
      </p:sp>
      <p:sp>
        <p:nvSpPr>
          <p:cNvPr id="2033" name="Google Shape;2033;p22"/>
          <p:cNvSpPr txBox="1"/>
          <p:nvPr/>
        </p:nvSpPr>
        <p:spPr>
          <a:xfrm>
            <a:off x="9084945" y="2844800"/>
            <a:ext cx="20427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430"/>
                </a:solidFill>
                <a:latin typeface="Calibri"/>
                <a:ea typeface="Calibri"/>
                <a:cs typeface="Calibri"/>
                <a:sym typeface="Calibri"/>
              </a:rPr>
              <a:t>Los segmentos de datos llenos de ceros desaparecen. La memoria lineal empieza en cero de todos modos.</a:t>
            </a:r>
            <a:endParaRPr/>
          </a:p>
        </p:txBody>
      </p:sp>
      <p:sp>
        <p:nvSpPr>
          <p:cNvPr id="2034" name="Google Shape;2034;p22"/>
          <p:cNvSpPr/>
          <p:nvPr/>
        </p:nvSpPr>
        <p:spPr>
          <a:xfrm>
            <a:off x="9084945" y="3810000"/>
            <a:ext cx="2042795" cy="939800"/>
          </a:xfrm>
          <a:prstGeom prst="roundRect">
            <a:avLst>
              <a:gd fmla="val 16667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22"/>
          <p:cNvSpPr txBox="1"/>
          <p:nvPr/>
        </p:nvSpPr>
        <p:spPr>
          <a:xfrm>
            <a:off x="9186545" y="3911600"/>
            <a:ext cx="1839595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(data "\00 … \00 \01")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(data "\01") al final</a:t>
            </a:r>
          </a:p>
          <a:p>
            <a:pPr indent="0" lvl="0" marL="0" marR="0" rtl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B6A6"/>
                </a:solidFill>
                <a:latin typeface="Consolas"/>
                <a:ea typeface="Consolas"/>
                <a:cs typeface="Consolas"/>
                <a:sym typeface="Consolas"/>
              </a:rPr>
              <a:t>→ 60 KB menos por la red</a:t>
            </a:r>
          </a:p>
        </p:txBody>
      </p:sp>
      <p:sp>
        <p:nvSpPr>
          <p:cNvPr id="304" name="Google Shape;304;p22"/>
          <p:cNvSpPr/>
          <p:nvPr/>
        </p:nvSpPr>
        <p:spPr>
          <a:xfrm>
            <a:off x="822960" y="5105400"/>
            <a:ext cx="10515600" cy="1168400"/>
          </a:xfrm>
          <a:prstGeom prst="roundRect">
            <a:avLst>
              <a:gd fmla="val 8000" name="adj"/>
            </a:avLst>
          </a:prstGeom>
          <a:solidFill>
            <a:srgbClr val="1C14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1066800" y="52197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A8EC"/>
                </a:solidFill>
                <a:latin typeface="Calibri"/>
                <a:ea typeface="Calibri"/>
                <a:cs typeface="Calibri"/>
                <a:sym typeface="Calibri"/>
              </a:rPr>
              <a:t>POR QUÉ AQUÍ NO CAMBIÓ NADA · MEDIDO CON BINARYEN 133 EN ESTA DEMO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1066800" y="5461000"/>
            <a:ext cx="1003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-O3: 2,374 → 2,383 bytes, 558 → 558 instrucciones. Solo cambiaron los números de las locales; los 9 bytes extra son una sección de metadatos.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LLVM ya tenía el programa completo: un solo archivo fuente, sin libc, exports explícitos. Inlining, DCE y las locales quedaron resueltos en -O3.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-O0: 3,432 → 2,644 bytes, 23% más chico. wasm-opt rehace buena parte del trabajo del optimizador a posteriori, pero no todo: -O3 da 2,374.</a:t>
            </a:r>
          </a:p>
          <a:p>
            <a:pPr indent="0" lvl="0" marL="0" marR="0" rtl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app real con Emscripten: docenas de objetos, libc, pegamento de runtime. Ahí la vista de todo el módulo suele quitar entre 10 y 20%.</a:t>
            </a:r>
          </a:p>
        </p:txBody>
      </p:sp>
      <p:sp>
        <p:nvSpPr>
          <p:cNvPr id="303" name="Google Shape;303;p22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6280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