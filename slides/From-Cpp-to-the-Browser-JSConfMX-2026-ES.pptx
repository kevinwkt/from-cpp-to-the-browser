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78" r:id="rId28"/>
    <p:sldId id="266" r:id="rId16"/>
    <p:sldId id="281" r:id="rId31"/>
    <p:sldId id="279" r:id="rId29"/>
    <p:sldId id="267" r:id="rId17"/>
    <p:sldId id="280" r:id="rId30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
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  <Relationship Id="rId28" Type="http://schemas.openxmlformats.org/officeDocument/2006/relationships/slide" Target="slides/slide23.xml"/>
  <Relationship Id="rId29" Type="http://schemas.openxmlformats.org/officeDocument/2006/relationships/slide" Target="slides/slide24.xml"/>
  <Relationship Id="rId30" Type="http://schemas.openxmlformats.org/officeDocument/2006/relationships/slide" Target="slides/slide25.xml"/>
<Relationship Id="rId31" Type="http://schemas.openxmlformats.org/officeDocument/2006/relationships/slide" Target="slides/slide26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4" name="Google Shape;434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9" name="Google Shape;459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2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4" name="Google Shape;474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3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5" name="Google Shape;515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5" name="Google Shape;525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4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822960" y="1965960"/>
            <a:ext cx="146304" cy="1828800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1188720" y="1828800"/>
            <a:ext cx="1005840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De C++ al navegador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B9A8EC"/>
                </a:solidFill>
                <a:latin typeface="Georgia"/>
                <a:ea typeface="Georgia"/>
                <a:cs typeface="Georgia"/>
                <a:sym typeface="Georgia"/>
              </a:rPr>
              <a:t>La tubería de compilación de WebAssembly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188720" y="489204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Kyungtak  ·  Integración y releases de LLVM, Google Toolchains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JSConf México 2026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1188720" y="612648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400" u="none" cap="none" strike="noStrike">
                <a:solidFill>
                  <a:srgbClr val="B9A8EC"/>
                </a:solidFill>
                <a:latin typeface="Calibri"/>
                <a:ea typeface="Calibri"/>
                <a:cs typeface="Calibri"/>
                <a:sym typeface="Calibri"/>
              </a:rPr>
              <a:t>Sigue una línea de C++ hasta el interior de un motor de JavaScript.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4"/>
          <p:cNvSpPr/>
          <p:nvPr/>
        </p:nvSpPr>
        <p:spPr>
          <a:xfrm>
            <a:off x="822960" y="640080"/>
            <a:ext cx="1801367" cy="310896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4"/>
          <p:cNvSpPr txBox="1"/>
          <p:nvPr/>
        </p:nvSpPr>
        <p:spPr>
          <a:xfrm>
            <a:off x="822960" y="658368"/>
            <a:ext cx="18013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 CONTEXTO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Ya usas WebAssembly en producción</a:t>
            </a:r>
            <a:endParaRPr/>
          </a:p>
        </p:txBody>
      </p:sp>
      <p:sp>
        <p:nvSpPr>
          <p:cNvPr id="97" name="Google Shape;97;p14"/>
          <p:cNvSpPr/>
          <p:nvPr/>
        </p:nvSpPr>
        <p:spPr>
          <a:xfrm>
            <a:off x="822960" y="2331720"/>
            <a:ext cx="3429000" cy="141732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4"/>
          <p:cNvSpPr/>
          <p:nvPr/>
        </p:nvSpPr>
        <p:spPr>
          <a:xfrm>
            <a:off x="1024128" y="2587752"/>
            <a:ext cx="91440" cy="905256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4"/>
          <p:cNvSpPr txBox="1"/>
          <p:nvPr/>
        </p:nvSpPr>
        <p:spPr>
          <a:xfrm>
            <a:off x="1280160" y="2569463"/>
            <a:ext cx="2788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Figma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1280160" y="3044952"/>
            <a:ext cx="2788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Editor vectorial: C++ en la pestaña</a:t>
            </a:r>
            <a:endParaRPr/>
          </a:p>
        </p:txBody>
      </p:sp>
      <p:sp>
        <p:nvSpPr>
          <p:cNvPr id="101" name="Google Shape;101;p14"/>
          <p:cNvSpPr/>
          <p:nvPr/>
        </p:nvSpPr>
        <p:spPr>
          <a:xfrm>
            <a:off x="4416552" y="2331720"/>
            <a:ext cx="3429000" cy="141732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4"/>
          <p:cNvSpPr/>
          <p:nvPr/>
        </p:nvSpPr>
        <p:spPr>
          <a:xfrm>
            <a:off x="4617720" y="2587752"/>
            <a:ext cx="91440" cy="905256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4"/>
          <p:cNvSpPr txBox="1"/>
          <p:nvPr/>
        </p:nvSpPr>
        <p:spPr>
          <a:xfrm>
            <a:off x="4873752" y="2569463"/>
            <a:ext cx="2788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Photoshop Web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4873752" y="3044952"/>
            <a:ext cx="2788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El núcleo en C++ de Adobe, compilado</a:t>
            </a:r>
            <a:endParaRPr/>
          </a:p>
        </p:txBody>
      </p:sp>
      <p:sp>
        <p:nvSpPr>
          <p:cNvPr id="105" name="Google Shape;105;p14"/>
          <p:cNvSpPr/>
          <p:nvPr/>
        </p:nvSpPr>
        <p:spPr>
          <a:xfrm>
            <a:off x="8010144" y="2331720"/>
            <a:ext cx="3429000" cy="141732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8211312" y="2587752"/>
            <a:ext cx="91440" cy="905256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8467344" y="2569463"/>
            <a:ext cx="2788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AutoCAD Web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8467344" y="3044952"/>
            <a:ext cx="2788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Décadas de C++, en un navegador</a:t>
            </a:r>
            <a:endParaRPr/>
          </a:p>
        </p:txBody>
      </p:sp>
      <p:sp>
        <p:nvSpPr>
          <p:cNvPr id="109" name="Google Shape;109;p14"/>
          <p:cNvSpPr/>
          <p:nvPr/>
        </p:nvSpPr>
        <p:spPr>
          <a:xfrm>
            <a:off x="822960" y="3950208"/>
            <a:ext cx="3429000" cy="141732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4"/>
          <p:cNvSpPr/>
          <p:nvPr/>
        </p:nvSpPr>
        <p:spPr>
          <a:xfrm>
            <a:off x="1024128" y="4206240"/>
            <a:ext cx="91440" cy="905256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4"/>
          <p:cNvSpPr txBox="1"/>
          <p:nvPr/>
        </p:nvSpPr>
        <p:spPr>
          <a:xfrm>
            <a:off x="1280160" y="4187952"/>
            <a:ext cx="2788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Google Earth</a:t>
            </a:r>
            <a:endParaRPr/>
          </a:p>
        </p:txBody>
      </p:sp>
      <p:sp>
        <p:nvSpPr>
          <p:cNvPr id="112" name="Google Shape;112;p14"/>
          <p:cNvSpPr txBox="1"/>
          <p:nvPr/>
        </p:nvSpPr>
        <p:spPr>
          <a:xfrm>
            <a:off x="1280160" y="4663440"/>
            <a:ext cx="2788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Motor 3D como WebAssembly</a:t>
            </a:r>
            <a:endParaRPr/>
          </a:p>
        </p:txBody>
      </p:sp>
      <p:sp>
        <p:nvSpPr>
          <p:cNvPr id="113" name="Google Shape;113;p14"/>
          <p:cNvSpPr/>
          <p:nvPr/>
        </p:nvSpPr>
        <p:spPr>
          <a:xfrm>
            <a:off x="4416552" y="3950208"/>
            <a:ext cx="3429000" cy="141732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4"/>
          <p:cNvSpPr/>
          <p:nvPr/>
        </p:nvSpPr>
        <p:spPr>
          <a:xfrm>
            <a:off x="4617720" y="4206240"/>
            <a:ext cx="91440" cy="905256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4"/>
          <p:cNvSpPr txBox="1"/>
          <p:nvPr/>
        </p:nvSpPr>
        <p:spPr>
          <a:xfrm>
            <a:off x="4873752" y="4187952"/>
            <a:ext cx="2788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Juegos en el navegador</a:t>
            </a:r>
            <a:endParaRPr/>
          </a:p>
        </p:txBody>
      </p:sp>
      <p:sp>
        <p:nvSpPr>
          <p:cNvPr id="116" name="Google Shape;116;p14"/>
          <p:cNvSpPr txBox="1"/>
          <p:nvPr/>
        </p:nvSpPr>
        <p:spPr>
          <a:xfrm>
            <a:off x="4873752" y="4663440"/>
            <a:ext cx="2788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Unity / Unreal → WASM</a:t>
            </a:r>
            <a:endParaRPr/>
          </a:p>
        </p:txBody>
      </p:sp>
      <p:sp>
        <p:nvSpPr>
          <p:cNvPr id="117" name="Google Shape;117;p14"/>
          <p:cNvSpPr/>
          <p:nvPr/>
        </p:nvSpPr>
        <p:spPr>
          <a:xfrm>
            <a:off x="8010144" y="3950208"/>
            <a:ext cx="3429000" cy="141732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4"/>
          <p:cNvSpPr/>
          <p:nvPr/>
        </p:nvSpPr>
        <p:spPr>
          <a:xfrm>
            <a:off x="8211312" y="4206240"/>
            <a:ext cx="91440" cy="905256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4"/>
          <p:cNvSpPr txBox="1"/>
          <p:nvPr/>
        </p:nvSpPr>
        <p:spPr>
          <a:xfrm>
            <a:off x="8467344" y="4187952"/>
            <a:ext cx="2788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Tus paquetes npm</a:t>
            </a:r>
            <a:endParaRPr/>
          </a:p>
        </p:txBody>
      </p:sp>
      <p:sp>
        <p:nvSpPr>
          <p:cNvPr id="120" name="Google Shape;120;p14"/>
          <p:cNvSpPr txBox="1"/>
          <p:nvPr/>
        </p:nvSpPr>
        <p:spPr>
          <a:xfrm>
            <a:off x="8467344" y="4663440"/>
            <a:ext cx="2788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Shiki ejecuta Oniguruma como WASM</a:t>
            </a:r>
            <a:endParaRPr/>
          </a:p>
        </p:txBody>
      </p:sp>
      <p:sp>
        <p:nvSpPr>
          <p:cNvPr id="121" name="Google Shape;121;p1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Apps reales de producción que tus usuarios abren cada día: código compilado corriendo junto a tu JavaScript.</a:t>
            </a:r>
            <a:endParaRPr/>
          </a:p>
        </p:txBody>
      </p:sp>
      <p:sp>
        <p:nvSpPr>
          <p:cNvPr id="122" name="Google Shape;122;p1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02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4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5"/>
          <p:cNvSpPr txBox="1"/>
          <p:nvPr/>
        </p:nvSpPr>
        <p:spPr>
          <a:xfrm>
            <a:off x="1097280" y="2194560"/>
            <a:ext cx="100584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¿Cómo hace una línea de C++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4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para correr en un navegador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460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de forma segura y rápida?</a:t>
            </a:r>
            <a:endParaRPr/>
          </a:p>
        </p:txBody>
      </p:sp>
      <p:sp>
        <p:nvSpPr>
          <p:cNvPr id="129" name="Google Shape;129;p15"/>
          <p:cNvSpPr txBox="1"/>
          <p:nvPr/>
        </p:nvSpPr>
        <p:spPr>
          <a:xfrm>
            <a:off x="1097280" y="521208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700" u="none" cap="none" strike="noStrike">
                <a:solidFill>
                  <a:srgbClr val="B9A8EC"/>
                </a:solidFill>
                <a:latin typeface="Calibri"/>
                <a:ea typeface="Calibri"/>
                <a:cs typeface="Calibri"/>
                <a:sym typeface="Calibri"/>
              </a:rPr>
              <a:t>No «se compila a WASM». Paso a paso: qué le pasa de verdad.</a:t>
            </a:r>
            <a:endParaRPr/>
          </a:p>
        </p:txBody>
      </p:sp>
      <p:sp>
        <p:nvSpPr>
          <p:cNvPr id="130" name="Google Shape;130;p1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03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6"/>
          <p:cNvSpPr/>
          <p:nvPr/>
        </p:nvSpPr>
        <p:spPr>
          <a:xfrm>
            <a:off x="822960" y="640080"/>
            <a:ext cx="2130552" cy="310896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6"/>
          <p:cNvSpPr txBox="1"/>
          <p:nvPr/>
        </p:nvSpPr>
        <p:spPr>
          <a:xfrm>
            <a:off x="822960" y="658368"/>
            <a:ext cx="213055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 PROBLEMA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¿Por qué no solo JavaScript?</a:t>
            </a:r>
            <a:endParaRPr/>
          </a:p>
        </p:txBody>
      </p:sp>
      <p:sp>
        <p:nvSpPr>
          <p:cNvPr id="139" name="Google Shape;139;p16"/>
          <p:cNvSpPr/>
          <p:nvPr/>
        </p:nvSpPr>
        <p:spPr>
          <a:xfrm>
            <a:off x="822960" y="2468880"/>
            <a:ext cx="3429000" cy="274320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6"/>
          <p:cNvSpPr/>
          <p:nvPr/>
        </p:nvSpPr>
        <p:spPr>
          <a:xfrm>
            <a:off x="822960" y="2468880"/>
            <a:ext cx="3429000" cy="128016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6"/>
          <p:cNvSpPr txBox="1"/>
          <p:nvPr/>
        </p:nvSpPr>
        <p:spPr>
          <a:xfrm>
            <a:off x="1143000" y="2880360"/>
            <a:ext cx="2788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Cómputo pesado</a:t>
            </a:r>
            <a:endParaRPr/>
          </a:p>
        </p:txBody>
      </p:sp>
      <p:sp>
        <p:nvSpPr>
          <p:cNvPr id="142" name="Google Shape;142;p16"/>
          <p:cNvSpPr txBox="1"/>
          <p:nvPr/>
        </p:nvSpPr>
        <p:spPr>
          <a:xfrm>
            <a:off x="1143000" y="3749039"/>
            <a:ext cx="27889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Códecs, física, filtros de imagen. Un buen JIT puede igualar un bucle ajustado; no puede prometerlo, y no tiene SIMD.</a:t>
            </a:r>
            <a:endParaRPr/>
          </a:p>
        </p:txBody>
      </p:sp>
      <p:sp>
        <p:nvSpPr>
          <p:cNvPr id="143" name="Google Shape;143;p16"/>
          <p:cNvSpPr/>
          <p:nvPr/>
        </p:nvSpPr>
        <p:spPr>
          <a:xfrm>
            <a:off x="4416552" y="2468880"/>
            <a:ext cx="3429000" cy="274320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6"/>
          <p:cNvSpPr/>
          <p:nvPr/>
        </p:nvSpPr>
        <p:spPr>
          <a:xfrm>
            <a:off x="4416552" y="2468880"/>
            <a:ext cx="3429000" cy="128016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6"/>
          <p:cNvSpPr txBox="1"/>
          <p:nvPr/>
        </p:nvSpPr>
        <p:spPr>
          <a:xfrm>
            <a:off x="4736592" y="2880360"/>
            <a:ext cx="2788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Un destino de compilación</a:t>
            </a:r>
            <a:endParaRPr/>
          </a:p>
        </p:txBody>
      </p:sp>
      <p:sp>
        <p:nvSpPr>
          <p:cNvPr id="146" name="Google Shape;146;p16"/>
          <p:cNvSpPr txBox="1"/>
          <p:nvPr/>
        </p:nvSpPr>
        <p:spPr>
          <a:xfrm>
            <a:off x="4736592" y="3749039"/>
            <a:ext cx="27889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Otros lenguajes (C++, Rust) necesitaban un lugar donde aterrizar.</a:t>
            </a:r>
            <a:endParaRPr/>
          </a:p>
        </p:txBody>
      </p:sp>
      <p:sp>
        <p:nvSpPr>
          <p:cNvPr id="147" name="Google Shape;147;p16"/>
          <p:cNvSpPr/>
          <p:nvPr/>
        </p:nvSpPr>
        <p:spPr>
          <a:xfrm>
            <a:off x="8010144" y="2468880"/>
            <a:ext cx="3429000" cy="274320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6"/>
          <p:cNvSpPr/>
          <p:nvPr/>
        </p:nvSpPr>
        <p:spPr>
          <a:xfrm>
            <a:off x="8010144" y="2468880"/>
            <a:ext cx="3429000" cy="128016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6"/>
          <p:cNvSpPr txBox="1"/>
          <p:nvPr/>
        </p:nvSpPr>
        <p:spPr>
          <a:xfrm>
            <a:off x="8330183" y="2880360"/>
            <a:ext cx="2788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Velocidad predecible</a:t>
            </a:r>
            <a:endParaRPr/>
          </a:p>
        </p:txBody>
      </p:sp>
      <p:sp>
        <p:nvSpPr>
          <p:cNvPr id="150" name="Google Shape;150;p16"/>
          <p:cNvSpPr txBox="1"/>
          <p:nvPr/>
        </p:nvSpPr>
        <p:spPr>
          <a:xfrm>
            <a:off x="8330183" y="3749039"/>
            <a:ext cx="27889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Las pausas del GC y los JIT hacen difícil prometer el peor caso.</a:t>
            </a:r>
            <a:endParaRPr/>
          </a:p>
        </p:txBody>
      </p:sp>
      <p:sp>
        <p:nvSpPr>
          <p:cNvPr id="151" name="Google Shape;151;p16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50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JavaScript es un pegamento brillante. Necesitábamos un segundo contrato para el trabajo pesado.</a:t>
            </a:r>
            <a:endParaRPr/>
          </a:p>
        </p:txBody>
      </p:sp>
      <p:sp>
        <p:nvSpPr>
          <p:cNvPr id="152" name="Google Shape;152;p16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04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7"/>
          <p:cNvSpPr/>
          <p:nvPr/>
        </p:nvSpPr>
        <p:spPr>
          <a:xfrm>
            <a:off x="822960" y="640080"/>
            <a:ext cx="1965960" cy="310896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7"/>
          <p:cNvSpPr txBox="1"/>
          <p:nvPr/>
        </p:nvSpPr>
        <p:spPr>
          <a:xfrm>
            <a:off x="822960" y="658368"/>
            <a:ext cx="1965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DEFINICIÓN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Qué es WebAssembly en realidad</a:t>
            </a:r>
            <a:endParaRPr/>
          </a:p>
        </p:txBody>
      </p:sp>
      <p:sp>
        <p:nvSpPr>
          <p:cNvPr id="161" name="Google Shape;161;p17"/>
          <p:cNvSpPr/>
          <p:nvPr/>
        </p:nvSpPr>
        <p:spPr>
          <a:xfrm>
            <a:off x="822960" y="2377440"/>
            <a:ext cx="10543032" cy="1554480"/>
          </a:xfrm>
          <a:prstGeom prst="roundRect">
            <a:avLst>
              <a:gd fmla="val 16667" name="adj"/>
            </a:avLst>
          </a:prstGeom>
          <a:solidFill>
            <a:srgbClr val="1C1430"/>
          </a:solidFill>
          <a:ln>
            <a:noFill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7"/>
          <p:cNvSpPr txBox="1"/>
          <p:nvPr/>
        </p:nvSpPr>
        <p:spPr>
          <a:xfrm>
            <a:off x="1188720" y="2606040"/>
            <a:ext cx="987552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Un formato de instrucciones binario, </a:t>
            </a:r>
            <a:r>
              <a:rPr b="1" i="0" lang="en-US" sz="240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portable, aislado y de tipado estático</a:t>
            </a:r>
            <a:r>
              <a:rPr b="0" i="0" lang="en-US" sz="24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1" lang="en-US" sz="1800" u="none" cap="none" strike="noStrike">
                <a:solidFill>
                  <a:srgbClr val="B9A8EC"/>
                </a:solidFill>
                <a:latin typeface="Calibri"/>
                <a:ea typeface="Calibri"/>
                <a:cs typeface="Calibri"/>
                <a:sym typeface="Calibri"/>
              </a:rPr>
              <a:t>Un destino de compilación, no un lenguaje.</a:t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822960" y="4297680"/>
            <a:ext cx="342900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Rara vez se escribe a mano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Es un ensamblador que el motor acepta ejecutar.</a:t>
            </a:r>
            <a:endParaRPr/>
          </a:p>
        </p:txBody>
      </p:sp>
      <p:sp>
        <p:nvSpPr>
          <p:cNvPr id="164" name="Google Shape;164;p17"/>
          <p:cNvSpPr txBox="1"/>
          <p:nvPr/>
        </p:nvSpPr>
        <p:spPr>
          <a:xfrm>
            <a:off x="4416552" y="4297680"/>
            <a:ext cx="342900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Vive junto a tu JS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Mismo motor, misma página. JS puede leer su memoria directamente.</a:t>
            </a: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8010144" y="4297680"/>
            <a:ext cx="342900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«Un CPU con forma de contrato»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De bajo nivel, pero verificable y seguro.</a:t>
            </a:r>
            <a:endParaRPr/>
          </a:p>
        </p:txBody>
      </p:sp>
      <p:sp>
        <p:nvSpPr>
          <p:cNvPr id="166" name="Google Shape;166;p17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05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8"/>
          <p:cNvSpPr/>
          <p:nvPr/>
        </p:nvSpPr>
        <p:spPr>
          <a:xfrm>
            <a:off x="822960" y="502920"/>
            <a:ext cx="1472184" cy="310896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8"/>
          <p:cNvSpPr txBox="1"/>
          <p:nvPr/>
        </p:nvSpPr>
        <p:spPr>
          <a:xfrm>
            <a:off x="822960" y="521208"/>
            <a:ext cx="147218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 MAPA</a:t>
            </a:r>
            <a:endParaRPr/>
          </a:p>
        </p:txBody>
      </p:sp>
      <p:sp>
        <p:nvSpPr>
          <p:cNvPr id="174" name="Google Shape;174;p18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La tubería completa</a:t>
            </a:r>
            <a:endParaRPr/>
          </a:p>
        </p:txBody>
      </p:sp>
      <p:sp>
        <p:nvSpPr>
          <p:cNvPr id="175" name="Google Shape;175;p18"/>
          <p:cNvSpPr/>
          <p:nvPr/>
        </p:nvSpPr>
        <p:spPr>
          <a:xfrm>
            <a:off x="822960" y="2103120"/>
            <a:ext cx="2468880" cy="1234440"/>
          </a:xfrm>
          <a:prstGeom prst="roundRect">
            <a:avLst>
              <a:gd fmla="val 16667" name="adj"/>
            </a:avLst>
          </a:prstGeom>
          <a:solidFill>
            <a:srgbClr val="EFEAFC"/>
          </a:solidFill>
          <a:ln>
            <a:noFill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8"/>
          <p:cNvSpPr txBox="1"/>
          <p:nvPr/>
        </p:nvSpPr>
        <p:spPr>
          <a:xfrm>
            <a:off x="1005840" y="2249424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FUENTE</a:t>
            </a:r>
            <a:endParaRPr/>
          </a:p>
        </p:txBody>
      </p:sp>
      <p:sp>
        <p:nvSpPr>
          <p:cNvPr id="177" name="Google Shape;177;p18"/>
          <p:cNvSpPr txBox="1"/>
          <p:nvPr/>
        </p:nvSpPr>
        <p:spPr>
          <a:xfrm>
            <a:off x="1005840" y="256032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C / C++</a:t>
            </a:r>
            <a:r>
              <a:rPr b="1" i="0" lang="en-US" sz="1600" u="none" cap="none" strike="noStrike">
                <a:solidFill>
                  <a:srgbClr val="6A6280"/>
                </a:solidFill>
                <a:latin typeface="Georgia"/>
                <a:ea typeface="Georgia"/>
                <a:cs typeface="Georgia"/>
                <a:sym typeface="Georgia"/>
              </a:rPr>
              <a:t> · </a:t>
            </a:r>
            <a:r>
              <a:rPr b="1" i="0" lang="en-US" sz="1600" u="none" cap="none" strike="noStrike">
                <a:solidFill>
                  <a:srgbClr val="C2561B"/>
                </a:solidFill>
                <a:latin typeface="Georgia"/>
                <a:ea typeface="Georgia"/>
                <a:cs typeface="Georgia"/>
                <a:sym typeface="Georgia"/>
              </a:rPr>
              <a:t>Rust</a:t>
            </a:r>
            <a:endParaRPr/>
          </a:p>
        </p:txBody>
      </p:sp>
      <p:sp>
        <p:nvSpPr>
          <p:cNvPr id="178" name="Google Shape;178;p18"/>
          <p:cNvSpPr txBox="1"/>
          <p:nvPr/>
        </p:nvSpPr>
        <p:spPr>
          <a:xfrm>
            <a:off x="1005840" y="2971800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add(a, b)</a:t>
            </a:r>
            <a:r>
              <a:rPr b="0" i="0" lang="en-US" sz="1100" u="none" cap="none" strike="noStrike">
                <a:solidFill>
                  <a:srgbClr val="C2561B"/>
                </a:solidFill>
                <a:latin typeface="Consolas"/>
                <a:ea typeface="Consolas"/>
                <a:cs typeface="Consolas"/>
                <a:sym typeface="Consolas"/>
              </a:rPr>
              <a:t>  ·  fn add</a:t>
            </a:r>
            <a:endParaRPr/>
          </a:p>
        </p:txBody>
      </p:sp>
      <p:sp>
        <p:nvSpPr>
          <p:cNvPr id="179" name="Google Shape;179;p18"/>
          <p:cNvSpPr/>
          <p:nvPr/>
        </p:nvSpPr>
        <p:spPr>
          <a:xfrm>
            <a:off x="3310128" y="2651760"/>
            <a:ext cx="155448" cy="14630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8"/>
          <p:cNvSpPr/>
          <p:nvPr/>
        </p:nvSpPr>
        <p:spPr>
          <a:xfrm>
            <a:off x="3502152" y="2103120"/>
            <a:ext cx="2468880" cy="12344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8"/>
          <p:cNvSpPr txBox="1"/>
          <p:nvPr/>
        </p:nvSpPr>
        <p:spPr>
          <a:xfrm>
            <a:off x="3685032" y="2249424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FRONTEND</a:t>
            </a:r>
            <a:endParaRPr/>
          </a:p>
        </p:txBody>
      </p:sp>
      <p:sp>
        <p:nvSpPr>
          <p:cNvPr id="182" name="Google Shape;182;p18"/>
          <p:cNvSpPr txBox="1"/>
          <p:nvPr/>
        </p:nvSpPr>
        <p:spPr>
          <a:xfrm>
            <a:off x="3685032" y="256032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Clang</a:t>
            </a:r>
            <a:r>
              <a:rPr b="1" i="0" lang="en-US" sz="1600" u="none" cap="none" strike="noStrike">
                <a:solidFill>
                  <a:srgbClr val="6A6280"/>
                </a:solidFill>
                <a:latin typeface="Georgia"/>
                <a:ea typeface="Georgia"/>
                <a:cs typeface="Georgia"/>
                <a:sym typeface="Georgia"/>
              </a:rPr>
              <a:t> · </a:t>
            </a:r>
            <a:r>
              <a:rPr b="1" i="0" lang="en-US" sz="1600" u="none" cap="none" strike="noStrike">
                <a:solidFill>
                  <a:srgbClr val="C2561B"/>
                </a:solidFill>
                <a:latin typeface="Georgia"/>
                <a:ea typeface="Georgia"/>
                <a:cs typeface="Georgia"/>
                <a:sym typeface="Georgia"/>
              </a:rPr>
              <a:t>rustc</a:t>
            </a:r>
            <a:endParaRPr/>
          </a:p>
        </p:txBody>
      </p:sp>
      <p:sp>
        <p:nvSpPr>
          <p:cNvPr id="183" name="Google Shape;183;p18"/>
          <p:cNvSpPr txBox="1"/>
          <p:nvPr/>
        </p:nvSpPr>
        <p:spPr>
          <a:xfrm>
            <a:off x="3685032" y="2971800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parsear → bajar</a:t>
            </a:r>
            <a:r>
              <a:rPr b="0" i="0" lang="en-US" sz="1100" u="none" cap="none" strike="noStrike">
                <a:solidFill>
                  <a:srgbClr val="C2561B"/>
                </a:solidFill>
                <a:latin typeface="Consolas"/>
                <a:ea typeface="Consolas"/>
                <a:cs typeface="Consolas"/>
                <a:sym typeface="Consolas"/>
              </a:rPr>
              <a:t>  ·  MIR</a:t>
            </a:r>
            <a:endParaRPr/>
          </a:p>
        </p:txBody>
      </p:sp>
      <p:sp>
        <p:nvSpPr>
          <p:cNvPr id="184" name="Google Shape;184;p18"/>
          <p:cNvSpPr/>
          <p:nvPr/>
        </p:nvSpPr>
        <p:spPr>
          <a:xfrm>
            <a:off x="5989320" y="2651760"/>
            <a:ext cx="155448" cy="14630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8"/>
          <p:cNvSpPr/>
          <p:nvPr/>
        </p:nvSpPr>
        <p:spPr>
          <a:xfrm>
            <a:off x="6181344" y="2103120"/>
            <a:ext cx="2468880" cy="12344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8"/>
          <p:cNvSpPr txBox="1"/>
          <p:nvPr/>
        </p:nvSpPr>
        <p:spPr>
          <a:xfrm>
            <a:off x="6364224" y="2249424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IR</a:t>
            </a:r>
            <a:r>
              <a:rPr b="1" i="0" lang="en-US" sz="1050" u="none" cap="none" strike="noStrike">
                <a:solidFill>
                  <a:srgbClr val="C2561B"/>
                </a:solidFill>
                <a:latin typeface="Calibri"/>
                <a:ea typeface="Calibri"/>
                <a:cs typeface="Calibri"/>
                <a:sym typeface="Calibri"/>
              </a:rPr>
              <a:t>  · COMPARTIDO CON RUST</a:t>
            </a:r>
            <a:endParaRPr/>
          </a:p>
        </p:txBody>
      </p:sp>
      <p:sp>
        <p:nvSpPr>
          <p:cNvPr id="187" name="Google Shape;187;p18"/>
          <p:cNvSpPr txBox="1"/>
          <p:nvPr/>
        </p:nvSpPr>
        <p:spPr>
          <a:xfrm>
            <a:off x="6364224" y="256032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LLVM IR</a:t>
            </a:r>
            <a:endParaRPr/>
          </a:p>
        </p:txBody>
      </p:sp>
      <p:sp>
        <p:nvSpPr>
          <p:cNvPr id="188" name="Google Shape;188;p18"/>
          <p:cNvSpPr txBox="1"/>
          <p:nvPr/>
        </p:nvSpPr>
        <p:spPr>
          <a:xfrm>
            <a:off x="6364224" y="2971800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SSA, sin destino</a:t>
            </a:r>
            <a:endParaRPr/>
          </a:p>
        </p:txBody>
      </p:sp>
      <p:sp>
        <p:nvSpPr>
          <p:cNvPr id="189" name="Google Shape;189;p18"/>
          <p:cNvSpPr/>
          <p:nvPr/>
        </p:nvSpPr>
        <p:spPr>
          <a:xfrm>
            <a:off x="8668512" y="2651760"/>
            <a:ext cx="155448" cy="14630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8"/>
          <p:cNvSpPr/>
          <p:nvPr/>
        </p:nvSpPr>
        <p:spPr>
          <a:xfrm>
            <a:off x="8860536" y="2103120"/>
            <a:ext cx="2468880" cy="12344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8"/>
          <p:cNvSpPr txBox="1"/>
          <p:nvPr/>
        </p:nvSpPr>
        <p:spPr>
          <a:xfrm>
            <a:off x="9043415" y="2249424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OPTIMIZAR</a:t>
            </a:r>
            <a:endParaRPr/>
          </a:p>
        </p:txBody>
      </p:sp>
      <p:sp>
        <p:nvSpPr>
          <p:cNvPr id="192" name="Google Shape;192;p18"/>
          <p:cNvSpPr txBox="1"/>
          <p:nvPr/>
        </p:nvSpPr>
        <p:spPr>
          <a:xfrm>
            <a:off x="9043415" y="256032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pases de opt</a:t>
            </a:r>
            <a:endParaRPr/>
          </a:p>
        </p:txBody>
      </p:sp>
      <p:sp>
        <p:nvSpPr>
          <p:cNvPr id="193" name="Google Shape;193;p18"/>
          <p:cNvSpPr txBox="1"/>
          <p:nvPr/>
        </p:nvSpPr>
        <p:spPr>
          <a:xfrm>
            <a:off x="9043415" y="2971800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inline · DCE · plegado</a:t>
            </a:r>
            <a:endParaRPr/>
          </a:p>
        </p:txBody>
      </p:sp>
      <p:sp>
        <p:nvSpPr>
          <p:cNvPr id="194" name="Google Shape;194;p18"/>
          <p:cNvSpPr/>
          <p:nvPr/>
        </p:nvSpPr>
        <p:spPr>
          <a:xfrm>
            <a:off x="822960" y="3977639"/>
            <a:ext cx="2468880" cy="12344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8"/>
          <p:cNvSpPr txBox="1"/>
          <p:nvPr/>
        </p:nvSpPr>
        <p:spPr>
          <a:xfrm>
            <a:off x="1005840" y="4123944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BACKEND</a:t>
            </a:r>
            <a:endParaRPr/>
          </a:p>
        </p:txBody>
      </p:sp>
      <p:sp>
        <p:nvSpPr>
          <p:cNvPr id="196" name="Google Shape;196;p18"/>
          <p:cNvSpPr txBox="1"/>
          <p:nvPr/>
        </p:nvSpPr>
        <p:spPr>
          <a:xfrm>
            <a:off x="1005840" y="443484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Backend WASM</a:t>
            </a:r>
            <a:endParaRPr/>
          </a:p>
        </p:txBody>
      </p:sp>
      <p:sp>
        <p:nvSpPr>
          <p:cNvPr id="197" name="Google Shape;197;p18"/>
          <p:cNvSpPr txBox="1"/>
          <p:nvPr/>
        </p:nvSpPr>
        <p:spPr>
          <a:xfrm>
            <a:off x="1005840" y="4846320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selección de instr.</a:t>
            </a:r>
            <a:endParaRPr/>
          </a:p>
        </p:txBody>
      </p:sp>
      <p:sp>
        <p:nvSpPr>
          <p:cNvPr id="198" name="Google Shape;198;p18"/>
          <p:cNvSpPr/>
          <p:nvPr/>
        </p:nvSpPr>
        <p:spPr>
          <a:xfrm>
            <a:off x="3310128" y="4526279"/>
            <a:ext cx="155448" cy="14630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8"/>
          <p:cNvSpPr/>
          <p:nvPr/>
        </p:nvSpPr>
        <p:spPr>
          <a:xfrm>
            <a:off x="3502152" y="3977639"/>
            <a:ext cx="2468880" cy="12344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8"/>
          <p:cNvSpPr txBox="1"/>
          <p:nvPr/>
        </p:nvSpPr>
        <p:spPr>
          <a:xfrm>
            <a:off x="3685032" y="4123944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ENLAZAR</a:t>
            </a:r>
            <a:endParaRPr/>
          </a:p>
        </p:txBody>
      </p:sp>
      <p:sp>
        <p:nvSpPr>
          <p:cNvPr id="201" name="Google Shape;201;p18"/>
          <p:cNvSpPr txBox="1"/>
          <p:nvPr/>
        </p:nvSpPr>
        <p:spPr>
          <a:xfrm>
            <a:off x="3685032" y="443484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wasm-ld</a:t>
            </a:r>
            <a:endParaRPr/>
          </a:p>
        </p:txBody>
      </p:sp>
      <p:sp>
        <p:nvSpPr>
          <p:cNvPr id="202" name="Google Shape;202;p18"/>
          <p:cNvSpPr txBox="1"/>
          <p:nvPr/>
        </p:nvSpPr>
        <p:spPr>
          <a:xfrm>
            <a:off x="3685032" y="4846320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LLD para WASM</a:t>
            </a:r>
            <a:endParaRPr/>
          </a:p>
        </p:txBody>
      </p:sp>
      <p:sp>
        <p:nvSpPr>
          <p:cNvPr id="203" name="Google Shape;203;p18"/>
          <p:cNvSpPr/>
          <p:nvPr/>
        </p:nvSpPr>
        <p:spPr>
          <a:xfrm>
            <a:off x="5989320" y="4526279"/>
            <a:ext cx="155448" cy="14630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8"/>
          <p:cNvSpPr/>
          <p:nvPr/>
        </p:nvSpPr>
        <p:spPr>
          <a:xfrm>
            <a:off x="6181344" y="3977639"/>
            <a:ext cx="2468880" cy="12344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8"/>
          <p:cNvSpPr txBox="1"/>
          <p:nvPr/>
        </p:nvSpPr>
        <p:spPr>
          <a:xfrm>
            <a:off x="6364224" y="4123944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PULIR</a:t>
            </a:r>
            <a:endParaRPr/>
          </a:p>
        </p:txBody>
      </p:sp>
      <p:sp>
        <p:nvSpPr>
          <p:cNvPr id="206" name="Google Shape;206;p18"/>
          <p:cNvSpPr txBox="1"/>
          <p:nvPr/>
        </p:nvSpPr>
        <p:spPr>
          <a:xfrm>
            <a:off x="6364224" y="443484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wasm-opt</a:t>
            </a:r>
            <a:endParaRPr/>
          </a:p>
        </p:txBody>
      </p:sp>
      <p:sp>
        <p:nvSpPr>
          <p:cNvPr id="207" name="Google Shape;207;p18"/>
          <p:cNvSpPr txBox="1"/>
          <p:nvPr/>
        </p:nvSpPr>
        <p:spPr>
          <a:xfrm>
            <a:off x="6364224" y="4846320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Binaryen</a:t>
            </a:r>
            <a:endParaRPr/>
          </a:p>
        </p:txBody>
      </p:sp>
      <p:sp>
        <p:nvSpPr>
          <p:cNvPr id="208" name="Google Shape;208;p18"/>
          <p:cNvSpPr/>
          <p:nvPr/>
        </p:nvSpPr>
        <p:spPr>
          <a:xfrm>
            <a:off x="8668512" y="4526279"/>
            <a:ext cx="155448" cy="14630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8"/>
          <p:cNvSpPr/>
          <p:nvPr/>
        </p:nvSpPr>
        <p:spPr>
          <a:xfrm>
            <a:off x="8860536" y="3977639"/>
            <a:ext cx="2468880" cy="1234440"/>
          </a:xfrm>
          <a:prstGeom prst="roundRect">
            <a:avLst>
              <a:gd fmla="val 16667" name="adj"/>
            </a:avLst>
          </a:prstGeom>
          <a:solidFill>
            <a:srgbClr val="1C1430"/>
          </a:solidFill>
          <a:ln>
            <a:noFill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8"/>
          <p:cNvSpPr txBox="1"/>
          <p:nvPr/>
        </p:nvSpPr>
        <p:spPr>
          <a:xfrm>
            <a:off x="9043415" y="4123944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B9A8EC"/>
                </a:solidFill>
                <a:latin typeface="Calibri"/>
                <a:ea typeface="Calibri"/>
                <a:cs typeface="Calibri"/>
                <a:sym typeface="Calibri"/>
              </a:rPr>
              <a:t>MOTOR</a:t>
            </a:r>
            <a:endParaRPr/>
          </a:p>
        </p:txBody>
      </p:sp>
      <p:sp>
        <p:nvSpPr>
          <p:cNvPr id="211" name="Google Shape;211;p18"/>
          <p:cNvSpPr txBox="1"/>
          <p:nvPr/>
        </p:nvSpPr>
        <p:spPr>
          <a:xfrm>
            <a:off x="9043415" y="443484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Motor V8</a:t>
            </a:r>
            <a:endParaRPr/>
          </a:p>
        </p:txBody>
      </p:sp>
      <p:sp>
        <p:nvSpPr>
          <p:cNvPr id="212" name="Google Shape;212;p18"/>
          <p:cNvSpPr txBox="1"/>
          <p:nvPr/>
        </p:nvSpPr>
        <p:spPr>
          <a:xfrm>
            <a:off x="9043415" y="4846320"/>
            <a:ext cx="2103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9A8EC"/>
                </a:solidFill>
                <a:latin typeface="Consolas"/>
                <a:ea typeface="Consolas"/>
                <a:cs typeface="Consolas"/>
                <a:sym typeface="Consolas"/>
              </a:rPr>
              <a:t>validar → ejecutar</a:t>
            </a:r>
            <a:endParaRPr/>
          </a:p>
        </p:txBody>
      </p:sp>
      <p:sp>
        <p:nvSpPr>
          <p:cNvPr id="213" name="Google Shape;213;p18"/>
          <p:cNvSpPr txBox="1"/>
          <p:nvPr/>
        </p:nvSpPr>
        <p:spPr>
          <a:xfrm>
            <a:off x="822960" y="5852160"/>
            <a:ext cx="105156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40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El fuente es para humanos. El IR es para el optimizador. El .wasm es el producto que ejecuta el motor.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400" u="none" cap="none" strike="noStrike">
                <a:solidFill>
                  <a:srgbClr val="C2561B"/>
                </a:solidFill>
                <a:latin typeface="Calibri"/>
                <a:ea typeface="Calibri"/>
                <a:cs typeface="Calibri"/>
                <a:sym typeface="Calibri"/>
              </a:rPr>
              <a:t>Rust toma el mismo camino: rustc reemplaza a Clang y baja al mismo LLVM IR; wasm-ld es rust-lld. Del IR en adelante, cada caja es compartida.</a:t>
            </a:r>
            <a:endParaRPr/>
          </a:p>
        </p:txBody>
      </p:sp>
      <p:sp>
        <p:nvSpPr>
          <p:cNvPr id="214" name="Google Shape;214;p18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06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4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9"/>
          <p:cNvSpPr/>
          <p:nvPr/>
        </p:nvSpPr>
        <p:spPr>
          <a:xfrm>
            <a:off x="822960" y="731520"/>
            <a:ext cx="2295144" cy="310896"/>
          </a:xfrm>
          <a:prstGeom prst="roundRect">
            <a:avLst>
              <a:gd fmla="val 16667" name="adj"/>
            </a:avLst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9"/>
          <p:cNvSpPr txBox="1"/>
          <p:nvPr/>
        </p:nvSpPr>
        <p:spPr>
          <a:xfrm>
            <a:off x="822960" y="749808"/>
            <a:ext cx="229514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NUESTRO ESPÉCIMEN</a:t>
            </a:r>
            <a:endParaRPr/>
          </a:p>
        </p:txBody>
      </p:sp>
      <p:sp>
        <p:nvSpPr>
          <p:cNvPr id="222" name="Google Shape;222;p19"/>
          <p:cNvSpPr txBox="1"/>
          <p:nvPr/>
        </p:nvSpPr>
        <p:spPr>
          <a:xfrm>
            <a:off x="822960" y="1371600"/>
            <a:ext cx="105156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La línea de código que seguimos</a:t>
            </a:r>
            <a:endParaRPr/>
          </a:p>
        </p:txBody>
      </p:sp>
      <p:sp>
        <p:nvSpPr>
          <p:cNvPr id="223" name="Google Shape;223;p19"/>
          <p:cNvSpPr/>
          <p:nvPr/>
        </p:nvSpPr>
        <p:spPr>
          <a:xfrm>
            <a:off x="822960" y="2651760"/>
            <a:ext cx="10543032" cy="1554480"/>
          </a:xfrm>
          <a:prstGeom prst="roundRect">
            <a:avLst>
              <a:gd fmla="val 16667" name="adj"/>
            </a:avLst>
          </a:prstGeom>
          <a:solidFill>
            <a:srgbClr val="120D22"/>
          </a:solidFill>
          <a:ln cap="flat" cmpd="sng" w="19050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9"/>
          <p:cNvSpPr txBox="1"/>
          <p:nvPr/>
        </p:nvSpPr>
        <p:spPr>
          <a:xfrm>
            <a:off x="1280160" y="2971800"/>
            <a:ext cx="96012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int </a:t>
            </a:r>
            <a:r>
              <a:rPr b="0" i="0" lang="en-US" sz="2600" u="none" cap="none" strike="noStrike">
                <a:solidFill>
                  <a:srgbClr val="B9A8EC"/>
                </a:solidFill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b="0" i="0" lang="en-US" sz="26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(int a, int b)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a * 2 + b;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25" name="Google Shape;225;p19"/>
          <p:cNvSpPr txBox="1"/>
          <p:nvPr/>
        </p:nvSpPr>
        <p:spPr>
          <a:xfrm>
            <a:off x="822960" y="4663440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700" u="none" cap="none" strike="noStrike">
                <a:solidFill>
                  <a:srgbClr val="B9A8EC"/>
                </a:solidFill>
                <a:latin typeface="Calibri"/>
                <a:ea typeface="Calibri"/>
                <a:cs typeface="Calibri"/>
                <a:sym typeface="Calibri"/>
              </a:rPr>
              <a:t>Trivial a propósito. Mira lo que la tubería le hace.</a:t>
            </a:r>
            <a:endParaRPr/>
          </a:p>
        </p:txBody>
      </p:sp>
      <p:sp>
        <p:nvSpPr>
          <p:cNvPr id="226" name="Google Shape;226;p19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07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0"/>
          <p:cNvSpPr/>
          <p:nvPr/>
        </p:nvSpPr>
        <p:spPr>
          <a:xfrm>
            <a:off x="822960" y="640080"/>
            <a:ext cx="3118104" cy="310896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0"/>
          <p:cNvSpPr txBox="1"/>
          <p:nvPr/>
        </p:nvSpPr>
        <p:spPr>
          <a:xfrm>
            <a:off x="822960" y="658368"/>
            <a:ext cx="311810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PASO 1 · FRONTEND</a:t>
            </a:r>
            <a:endParaRPr/>
          </a:p>
        </p:txBody>
      </p:sp>
      <p:sp>
        <p:nvSpPr>
          <p:cNvPr id="234" name="Google Shape;234;p20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Clang convierte C++ en LLVM IR</a:t>
            </a:r>
            <a:endParaRPr/>
          </a:p>
        </p:txBody>
      </p:sp>
      <p:sp>
        <p:nvSpPr>
          <p:cNvPr id="235" name="Google Shape;235;p20"/>
          <p:cNvSpPr/>
          <p:nvPr/>
        </p:nvSpPr>
        <p:spPr>
          <a:xfrm>
            <a:off x="822960" y="2377440"/>
            <a:ext cx="5029200" cy="310896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0"/>
          <p:cNvSpPr txBox="1"/>
          <p:nvPr/>
        </p:nvSpPr>
        <p:spPr>
          <a:xfrm>
            <a:off x="1097280" y="260604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FUENTE  (para humanos)</a:t>
            </a:r>
            <a:endParaRPr/>
          </a:p>
        </p:txBody>
      </p:sp>
      <p:sp>
        <p:nvSpPr>
          <p:cNvPr id="237" name="Google Shape;237;p20"/>
          <p:cNvSpPr txBox="1"/>
          <p:nvPr/>
        </p:nvSpPr>
        <p:spPr>
          <a:xfrm>
            <a:off x="1097280" y="3063240"/>
            <a:ext cx="457200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int add(int a, int b) {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  return a * 2 + b;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38" name="Google Shape;238;p20"/>
          <p:cNvSpPr/>
          <p:nvPr/>
        </p:nvSpPr>
        <p:spPr>
          <a:xfrm>
            <a:off x="6336792" y="2377440"/>
            <a:ext cx="5029200" cy="3108960"/>
          </a:xfrm>
          <a:prstGeom prst="roundRect">
            <a:avLst>
              <a:gd fmla="val 16667" name="adj"/>
            </a:avLst>
          </a:prstGeom>
          <a:solidFill>
            <a:srgbClr val="1C1430"/>
          </a:solidFill>
          <a:ln>
            <a:noFill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0"/>
          <p:cNvSpPr txBox="1"/>
          <p:nvPr/>
        </p:nvSpPr>
        <p:spPr>
          <a:xfrm>
            <a:off x="6611112" y="260604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B9A8EC"/>
                </a:solidFill>
                <a:latin typeface="Calibri"/>
                <a:ea typeface="Calibri"/>
                <a:cs typeface="Calibri"/>
                <a:sym typeface="Calibri"/>
              </a:rPr>
              <a:t>LLVM IR en -O0  (para el optimizador)</a:t>
            </a:r>
            <a:endParaRPr/>
          </a:p>
        </p:txBody>
      </p:sp>
      <p:sp>
        <p:nvSpPr>
          <p:cNvPr id="240" name="Google Shape;240;p20"/>
          <p:cNvSpPr txBox="1"/>
          <p:nvPr/>
        </p:nvSpPr>
        <p:spPr>
          <a:xfrm>
            <a:off x="6611112" y="3063240"/>
            <a:ext cx="457200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define i32 @_Z3addii(i32 %0, i32 %1) {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%3 = alloca i32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%4 = alloca i32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store i32 %0, ptr %3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store i32 %1, ptr %4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%5 = load i32, ptr %3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%6 = mul nsw i32 %5,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%7 = load i32, ptr %4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%8 = add nsw i32 %6, %7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ret i32 %8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41" name="Google Shape;241;p20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40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En -O0 Clang es literal: las variables viven en memoria y a*2 sigue siendo un mul. (C++ decoró add → _Z3addii.)</a:t>
            </a:r>
            <a:endParaRPr/>
          </a:p>
        </p:txBody>
      </p:sp>
      <p:sp>
        <p:nvSpPr>
          <p:cNvPr id="242" name="Google Shape;242;p20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08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2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1"/>
          <p:cNvSpPr/>
          <p:nvPr/>
        </p:nvSpPr>
        <p:spPr>
          <a:xfrm>
            <a:off x="822960" y="640080"/>
            <a:ext cx="2788920" cy="310896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1"/>
          <p:cNvSpPr txBox="1"/>
          <p:nvPr/>
        </p:nvSpPr>
        <p:spPr>
          <a:xfrm>
            <a:off x="822960" y="658368"/>
            <a:ext cx="2788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PASO 2 · POR QUÉ IR</a:t>
            </a:r>
            <a:endParaRPr/>
          </a:p>
        </p:txBody>
      </p:sp>
      <p:sp>
        <p:nvSpPr>
          <p:cNvPr id="250" name="Google Shape;250;p21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El IR es el producto real, no el fuente</a:t>
            </a:r>
            <a:endParaRPr/>
          </a:p>
        </p:txBody>
      </p:sp>
      <p:sp>
        <p:nvSpPr>
          <p:cNvPr id="251" name="Google Shape;251;p21"/>
          <p:cNvSpPr/>
          <p:nvPr/>
        </p:nvSpPr>
        <p:spPr>
          <a:xfrm>
            <a:off x="822960" y="2468880"/>
            <a:ext cx="2011680" cy="566928"/>
          </a:xfrm>
          <a:prstGeom prst="roundRect">
            <a:avLst>
              <a:gd fmla="val 16667" name="adj"/>
            </a:avLst>
          </a:prstGeom>
          <a:solidFill>
            <a:srgbClr val="EFEAFC"/>
          </a:solidFill>
          <a:ln cap="flat" cmpd="sng" w="15225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1"/>
          <p:cNvSpPr txBox="1"/>
          <p:nvPr/>
        </p:nvSpPr>
        <p:spPr>
          <a:xfrm>
            <a:off x="822960" y="2578608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C</a:t>
            </a:r>
            <a:endParaRPr/>
          </a:p>
        </p:txBody>
      </p:sp>
      <p:sp>
        <p:nvSpPr>
          <p:cNvPr id="253" name="Google Shape;253;p21"/>
          <p:cNvSpPr/>
          <p:nvPr/>
        </p:nvSpPr>
        <p:spPr>
          <a:xfrm>
            <a:off x="822960" y="3246120"/>
            <a:ext cx="2011680" cy="566928"/>
          </a:xfrm>
          <a:prstGeom prst="roundRect">
            <a:avLst>
              <a:gd fmla="val 16667" name="adj"/>
            </a:avLst>
          </a:prstGeom>
          <a:solidFill>
            <a:srgbClr val="EFEAFC"/>
          </a:solidFill>
          <a:ln cap="flat" cmpd="sng" w="15225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1"/>
          <p:cNvSpPr txBox="1"/>
          <p:nvPr/>
        </p:nvSpPr>
        <p:spPr>
          <a:xfrm>
            <a:off x="822960" y="3355848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C++</a:t>
            </a:r>
            <a:endParaRPr/>
          </a:p>
        </p:txBody>
      </p:sp>
      <p:sp>
        <p:nvSpPr>
          <p:cNvPr id="255" name="Google Shape;255;p21"/>
          <p:cNvSpPr/>
          <p:nvPr/>
        </p:nvSpPr>
        <p:spPr>
          <a:xfrm>
            <a:off x="822960" y="4023360"/>
            <a:ext cx="2011680" cy="566928"/>
          </a:xfrm>
          <a:prstGeom prst="roundRect">
            <a:avLst>
              <a:gd fmla="val 16667" name="adj"/>
            </a:avLst>
          </a:prstGeom>
          <a:solidFill>
            <a:srgbClr val="EFEAFC"/>
          </a:solidFill>
          <a:ln cap="flat" cmpd="sng" w="15225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1"/>
          <p:cNvSpPr txBox="1"/>
          <p:nvPr/>
        </p:nvSpPr>
        <p:spPr>
          <a:xfrm>
            <a:off x="822960" y="4133087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Rust</a:t>
            </a:r>
            <a:endParaRPr/>
          </a:p>
        </p:txBody>
      </p:sp>
      <p:sp>
        <p:nvSpPr>
          <p:cNvPr id="257" name="Google Shape;257;p21"/>
          <p:cNvSpPr/>
          <p:nvPr/>
        </p:nvSpPr>
        <p:spPr>
          <a:xfrm>
            <a:off x="822960" y="4800600"/>
            <a:ext cx="2011680" cy="566928"/>
          </a:xfrm>
          <a:prstGeom prst="roundRect">
            <a:avLst>
              <a:gd fmla="val 16667" name="adj"/>
            </a:avLst>
          </a:prstGeom>
          <a:solidFill>
            <a:srgbClr val="EFEAFC"/>
          </a:solidFill>
          <a:ln cap="flat" cmpd="sng" w="15225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21"/>
          <p:cNvSpPr txBox="1"/>
          <p:nvPr/>
        </p:nvSpPr>
        <p:spPr>
          <a:xfrm>
            <a:off x="822960" y="4910327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Swift</a:t>
            </a:r>
            <a:endParaRPr/>
          </a:p>
        </p:txBody>
      </p:sp>
      <p:sp>
        <p:nvSpPr>
          <p:cNvPr id="259" name="Google Shape;259;p21"/>
          <p:cNvSpPr/>
          <p:nvPr/>
        </p:nvSpPr>
        <p:spPr>
          <a:xfrm>
            <a:off x="4937760" y="3063240"/>
            <a:ext cx="2286000" cy="1371600"/>
          </a:xfrm>
          <a:prstGeom prst="roundRect">
            <a:avLst>
              <a:gd fmla="val 16667" name="adj"/>
            </a:avLst>
          </a:prstGeom>
          <a:solidFill>
            <a:srgbClr val="1C1430"/>
          </a:solidFill>
          <a:ln>
            <a:noFill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21"/>
          <p:cNvSpPr txBox="1"/>
          <p:nvPr/>
        </p:nvSpPr>
        <p:spPr>
          <a:xfrm>
            <a:off x="4937760" y="338328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LLVM IR</a:t>
            </a:r>
            <a:endParaRPr/>
          </a:p>
        </p:txBody>
      </p:sp>
      <p:sp>
        <p:nvSpPr>
          <p:cNvPr id="261" name="Google Shape;261;p21"/>
          <p:cNvSpPr/>
          <p:nvPr/>
        </p:nvSpPr>
        <p:spPr>
          <a:xfrm>
            <a:off x="9326880" y="2743200"/>
            <a:ext cx="2011680" cy="566928"/>
          </a:xfrm>
          <a:prstGeom prst="roundRect">
            <a:avLst>
              <a:gd fmla="val 16667" name="adj"/>
            </a:avLst>
          </a:prstGeom>
          <a:solidFill>
            <a:srgbClr val="EFEAFC"/>
          </a:solidFill>
          <a:ln cap="flat" cmpd="sng" w="15225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21"/>
          <p:cNvSpPr txBox="1"/>
          <p:nvPr/>
        </p:nvSpPr>
        <p:spPr>
          <a:xfrm>
            <a:off x="9326880" y="2852928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x86</a:t>
            </a:r>
            <a:endParaRPr/>
          </a:p>
        </p:txBody>
      </p:sp>
      <p:sp>
        <p:nvSpPr>
          <p:cNvPr id="263" name="Google Shape;263;p21"/>
          <p:cNvSpPr/>
          <p:nvPr/>
        </p:nvSpPr>
        <p:spPr>
          <a:xfrm>
            <a:off x="9326880" y="3520440"/>
            <a:ext cx="2011680" cy="566928"/>
          </a:xfrm>
          <a:prstGeom prst="roundRect">
            <a:avLst>
              <a:gd fmla="val 16667" name="adj"/>
            </a:avLst>
          </a:prstGeom>
          <a:solidFill>
            <a:srgbClr val="EFEAFC"/>
          </a:solidFill>
          <a:ln cap="flat" cmpd="sng" w="15225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1"/>
          <p:cNvSpPr txBox="1"/>
          <p:nvPr/>
        </p:nvSpPr>
        <p:spPr>
          <a:xfrm>
            <a:off x="9326880" y="3630168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ARM</a:t>
            </a:r>
            <a:endParaRPr/>
          </a:p>
        </p:txBody>
      </p:sp>
      <p:sp>
        <p:nvSpPr>
          <p:cNvPr id="265" name="Google Shape;265;p21"/>
          <p:cNvSpPr/>
          <p:nvPr/>
        </p:nvSpPr>
        <p:spPr>
          <a:xfrm>
            <a:off x="9326880" y="4297680"/>
            <a:ext cx="2011680" cy="566928"/>
          </a:xfrm>
          <a:prstGeom prst="roundRect">
            <a:avLst>
              <a:gd fmla="val 16667" name="adj"/>
            </a:avLst>
          </a:prstGeom>
          <a:solidFill>
            <a:srgbClr val="EFEAFC"/>
          </a:solidFill>
          <a:ln cap="flat" cmpd="sng" w="15225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1"/>
          <p:cNvSpPr txBox="1"/>
          <p:nvPr/>
        </p:nvSpPr>
        <p:spPr>
          <a:xfrm>
            <a:off x="9326880" y="4407408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WASM</a:t>
            </a:r>
            <a:endParaRPr/>
          </a:p>
        </p:txBody>
      </p:sp>
      <p:sp>
        <p:nvSpPr>
          <p:cNvPr id="267" name="Google Shape;267;p21"/>
          <p:cNvSpPr/>
          <p:nvPr/>
        </p:nvSpPr>
        <p:spPr>
          <a:xfrm>
            <a:off x="2926080" y="2724912"/>
            <a:ext cx="1920240" cy="14630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1"/>
          <p:cNvSpPr/>
          <p:nvPr/>
        </p:nvSpPr>
        <p:spPr>
          <a:xfrm>
            <a:off x="2926080" y="3502152"/>
            <a:ext cx="1920240" cy="14630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1"/>
          <p:cNvSpPr/>
          <p:nvPr/>
        </p:nvSpPr>
        <p:spPr>
          <a:xfrm>
            <a:off x="2926080" y="4279392"/>
            <a:ext cx="1920240" cy="14630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1"/>
          <p:cNvSpPr/>
          <p:nvPr/>
        </p:nvSpPr>
        <p:spPr>
          <a:xfrm>
            <a:off x="2926080" y="5056631"/>
            <a:ext cx="1920240" cy="14630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1"/>
          <p:cNvSpPr/>
          <p:nvPr/>
        </p:nvSpPr>
        <p:spPr>
          <a:xfrm>
            <a:off x="7315200" y="2999232"/>
            <a:ext cx="1920240" cy="14630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1"/>
          <p:cNvSpPr/>
          <p:nvPr/>
        </p:nvSpPr>
        <p:spPr>
          <a:xfrm>
            <a:off x="7315200" y="3776472"/>
            <a:ext cx="1920240" cy="14630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1"/>
          <p:cNvSpPr/>
          <p:nvPr/>
        </p:nvSpPr>
        <p:spPr>
          <a:xfrm>
            <a:off x="7315200" y="4553712"/>
            <a:ext cx="1920240" cy="146304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1"/>
          <p:cNvSpPr txBox="1"/>
          <p:nvPr/>
        </p:nvSpPr>
        <p:spPr>
          <a:xfrm>
            <a:off x="822960" y="5897880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50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M lenguajes × N destinos se vuelve M + N. Ese desacople es lo que hace escalar a todo el ecosistema.</a:t>
            </a:r>
            <a:endParaRPr/>
          </a:p>
        </p:txBody>
      </p:sp>
      <p:sp>
        <p:nvSpPr>
          <p:cNvPr id="275" name="Google Shape;275;p21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09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2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2"/>
          <p:cNvSpPr/>
          <p:nvPr/>
        </p:nvSpPr>
        <p:spPr>
          <a:xfrm>
            <a:off x="822960" y="640080"/>
            <a:ext cx="3118104" cy="310896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2"/>
          <p:cNvSpPr txBox="1"/>
          <p:nvPr/>
        </p:nvSpPr>
        <p:spPr>
          <a:xfrm>
            <a:off x="822960" y="658368"/>
            <a:ext cx="311810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PASO 3 · OPTIMIZAR</a:t>
            </a:r>
            <a:endParaRPr/>
          </a:p>
        </p:txBody>
      </p:sp>
      <p:sp>
        <p:nvSpPr>
          <p:cNvPr id="283" name="Google Shape;283;p22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La optimización, intuitivamente</a:t>
            </a:r>
            <a:endParaRPr/>
          </a:p>
        </p:txBody>
      </p:sp>
      <p:sp>
        <p:nvSpPr>
          <p:cNvPr id="284" name="Google Shape;284;p22"/>
          <p:cNvSpPr/>
          <p:nvPr/>
        </p:nvSpPr>
        <p:spPr>
          <a:xfrm>
            <a:off x="822960" y="2184400"/>
            <a:ext cx="3429000" cy="213360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2"/>
          <p:cNvSpPr/>
          <p:nvPr/>
        </p:nvSpPr>
        <p:spPr>
          <a:xfrm>
            <a:off x="822960" y="2184400"/>
            <a:ext cx="3429000" cy="128270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22"/>
          <p:cNvSpPr txBox="1"/>
          <p:nvPr/>
        </p:nvSpPr>
        <p:spPr>
          <a:xfrm>
            <a:off x="1097280" y="2413000"/>
            <a:ext cx="288036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Código muerto, fuera</a:t>
            </a:r>
            <a:endParaRPr/>
          </a:p>
        </p:txBody>
      </p:sp>
      <p:sp>
        <p:nvSpPr>
          <p:cNvPr id="287" name="Google Shape;287;p22"/>
          <p:cNvSpPr txBox="1"/>
          <p:nvPr/>
        </p:nvSpPr>
        <p:spPr>
          <a:xfrm>
            <a:off x="1097280" y="2819400"/>
            <a:ext cx="2880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Borrar cómputos que nadie usa.</a:t>
            </a:r>
            <a:endParaRPr/>
          </a:p>
        </p:txBody>
      </p:sp>
      <p:sp>
        <p:nvSpPr>
          <p:cNvPr id="288" name="Google Shape;288;p22"/>
          <p:cNvSpPr/>
          <p:nvPr/>
        </p:nvSpPr>
        <p:spPr>
          <a:xfrm>
            <a:off x="1097280" y="3327400"/>
            <a:ext cx="2880360" cy="812800"/>
          </a:xfrm>
          <a:prstGeom prst="roundRect">
            <a:avLst>
              <a:gd fmla="val 16667" name="adj"/>
            </a:avLst>
          </a:prstGeom>
          <a:solidFill>
            <a:srgbClr val="1C14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22"/>
          <p:cNvSpPr txBox="1"/>
          <p:nvPr/>
        </p:nvSpPr>
        <p:spPr>
          <a:xfrm>
            <a:off x="1234440" y="3446780"/>
            <a:ext cx="260604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x = f();  // x nunca se lee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→ eliminado</a:t>
            </a:r>
            <a:endParaRPr/>
          </a:p>
        </p:txBody>
      </p:sp>
      <p:sp>
        <p:nvSpPr>
          <p:cNvPr id="290" name="Google Shape;290;p22"/>
          <p:cNvSpPr/>
          <p:nvPr/>
        </p:nvSpPr>
        <p:spPr>
          <a:xfrm>
            <a:off x="4417060" y="2184400"/>
            <a:ext cx="3429000" cy="213360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22"/>
          <p:cNvSpPr/>
          <p:nvPr/>
        </p:nvSpPr>
        <p:spPr>
          <a:xfrm>
            <a:off x="4417060" y="2184400"/>
            <a:ext cx="3429000" cy="128270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22"/>
          <p:cNvSpPr txBox="1"/>
          <p:nvPr/>
        </p:nvSpPr>
        <p:spPr>
          <a:xfrm>
            <a:off x="4691380" y="2413000"/>
            <a:ext cx="288036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Inlining</a:t>
            </a:r>
            <a:endParaRPr/>
          </a:p>
        </p:txBody>
      </p:sp>
      <p:sp>
        <p:nvSpPr>
          <p:cNvPr id="293" name="Google Shape;293;p22"/>
          <p:cNvSpPr txBox="1"/>
          <p:nvPr/>
        </p:nvSpPr>
        <p:spPr>
          <a:xfrm>
            <a:off x="4691380" y="2819400"/>
            <a:ext cx="2880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Pegar funciones pequeñas dentro de quien las llama.</a:t>
            </a:r>
            <a:endParaRPr/>
          </a:p>
        </p:txBody>
      </p:sp>
      <p:sp>
        <p:nvSpPr>
          <p:cNvPr id="294" name="Google Shape;294;p22"/>
          <p:cNvSpPr/>
          <p:nvPr/>
        </p:nvSpPr>
        <p:spPr>
          <a:xfrm>
            <a:off x="4691380" y="3327400"/>
            <a:ext cx="2880360" cy="812800"/>
          </a:xfrm>
          <a:prstGeom prst="roundRect">
            <a:avLst>
              <a:gd fmla="val 16667" name="adj"/>
            </a:avLst>
          </a:prstGeom>
          <a:solidFill>
            <a:srgbClr val="1C14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2"/>
          <p:cNvSpPr txBox="1"/>
          <p:nvPr/>
        </p:nvSpPr>
        <p:spPr>
          <a:xfrm>
            <a:off x="4828540" y="3446780"/>
            <a:ext cx="260604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add(2,3) → 2*2+3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→ y luego se pliega a 7</a:t>
            </a:r>
            <a:endParaRPr/>
          </a:p>
        </p:txBody>
      </p:sp>
      <p:sp>
        <p:nvSpPr>
          <p:cNvPr id="296" name="Google Shape;296;p22"/>
          <p:cNvSpPr/>
          <p:nvPr/>
        </p:nvSpPr>
        <p:spPr>
          <a:xfrm>
            <a:off x="8009890" y="2184400"/>
            <a:ext cx="3429000" cy="213360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2"/>
          <p:cNvSpPr/>
          <p:nvPr/>
        </p:nvSpPr>
        <p:spPr>
          <a:xfrm>
            <a:off x="8009890" y="2184400"/>
            <a:ext cx="3429000" cy="128270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22"/>
          <p:cNvSpPr txBox="1"/>
          <p:nvPr/>
        </p:nvSpPr>
        <p:spPr>
          <a:xfrm>
            <a:off x="8284210" y="2413000"/>
            <a:ext cx="288036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Plegado de constantes</a:t>
            </a:r>
            <a:endParaRPr/>
          </a:p>
        </p:txBody>
      </p:sp>
      <p:sp>
        <p:nvSpPr>
          <p:cNvPr id="299" name="Google Shape;299;p22"/>
          <p:cNvSpPr txBox="1"/>
          <p:nvPr/>
        </p:nvSpPr>
        <p:spPr>
          <a:xfrm>
            <a:off x="8284210" y="2819400"/>
            <a:ext cx="28803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Calcular constantes al compilar.</a:t>
            </a:r>
            <a:endParaRPr/>
          </a:p>
        </p:txBody>
      </p:sp>
      <p:sp>
        <p:nvSpPr>
          <p:cNvPr id="300" name="Google Shape;300;p22"/>
          <p:cNvSpPr/>
          <p:nvPr/>
        </p:nvSpPr>
        <p:spPr>
          <a:xfrm>
            <a:off x="8284210" y="3327400"/>
            <a:ext cx="2880360" cy="812800"/>
          </a:xfrm>
          <a:prstGeom prst="roundRect">
            <a:avLst>
              <a:gd fmla="val 16667" name="adj"/>
            </a:avLst>
          </a:prstGeom>
          <a:solidFill>
            <a:srgbClr val="1C14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22"/>
          <p:cNvSpPr txBox="1"/>
          <p:nvPr/>
        </p:nvSpPr>
        <p:spPr>
          <a:xfrm>
            <a:off x="8421370" y="3446780"/>
            <a:ext cx="260604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2 * 21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→ 42</a:t>
            </a:r>
            <a:endParaRPr/>
          </a:p>
        </p:txBody>
      </p:sp>
      <p:sp>
        <p:nvSpPr>
          <p:cNvPr id="304" name="Google Shape;304;p22"/>
          <p:cNvSpPr/>
          <p:nvPr/>
        </p:nvSpPr>
        <p:spPr>
          <a:xfrm>
            <a:off x="822960" y="4470400"/>
            <a:ext cx="10515600" cy="1320800"/>
          </a:xfrm>
          <a:prstGeom prst="roundRect">
            <a:avLst>
              <a:gd fmla="val 8000" name="adj"/>
            </a:avLst>
          </a:prstGeom>
          <a:solidFill>
            <a:srgbClr val="1C14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22"/>
          <p:cNvSpPr txBox="1"/>
          <p:nvPr/>
        </p:nvSpPr>
        <p:spPr>
          <a:xfrm>
            <a:off x="1066800" y="4584700"/>
            <a:ext cx="8890000" cy="20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B9A8EC"/>
                </a:solidFill>
                <a:latin typeface="Calibri"/>
                <a:ea typeface="Calibri"/>
                <a:cs typeface="Calibri"/>
                <a:sym typeface="Calibri"/>
              </a:rPr>
              <a:t>LOS PASES QUE HICIERON EL TRABAJO EN ESTA CHARLA</a:t>
            </a:r>
            <a:endParaRPr/>
          </a:p>
        </p:txBody>
      </p:sp>
      <p:sp>
        <p:nvSpPr>
          <p:cNvPr id="306" name="Google Shape;306;p22"/>
          <p:cNvSpPr txBox="1"/>
          <p:nvPr/>
        </p:nvSpPr>
        <p:spPr>
          <a:xfrm>
            <a:off x="1066800" y="4838700"/>
            <a:ext cx="1778000" cy="8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mem2reg / SROA</a:t>
            </a:r>
          </a:p>
          <a:p>
            <a:pPr indent="0" lvl="0" marL="0" marR="0" rtl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instcombine</a:t>
            </a:r>
          </a:p>
          <a:p>
            <a:pPr indent="0" lvl="0" marL="0" marR="0" rtl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GVN / CSE</a:t>
            </a:r>
          </a:p>
          <a:p>
            <a:pPr indent="0" lvl="0" marL="0" marR="0" rtl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LICM</a:t>
            </a:r>
          </a:p>
        </p:txBody>
      </p:sp>
      <p:sp>
        <p:nvSpPr>
          <p:cNvPr id="307" name="Google Shape;307;p22"/>
          <p:cNvSpPr txBox="1"/>
          <p:nvPr/>
        </p:nvSpPr>
        <p:spPr>
          <a:xfrm>
            <a:off x="2844800" y="4838700"/>
            <a:ext cx="3327400" cy="8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locales → valores SSA: el 9 → 3 de la diapo 11</a:t>
            </a:r>
          </a:p>
          <a:p>
            <a:pPr indent="0" lvl="0" marL="0" marR="0" rtl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álgebra por instrucción: mul 2 → shl 1</a:t>
            </a:r>
          </a:p>
          <a:p>
            <a:pPr indent="0" lvl="0" marL="0" marR="0" rtl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calcular una vez, reusar el valor</a:t>
            </a:r>
          </a:p>
          <a:p>
            <a:pPr indent="0" lvl="0" marL="0" marR="0" rtl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sacar del bucle el trabajo que no cambia</a:t>
            </a:r>
          </a:p>
        </p:txBody>
      </p:sp>
      <p:sp>
        <p:nvSpPr>
          <p:cNvPr id="308" name="Google Shape;308;p22"/>
          <p:cNvSpPr txBox="1"/>
          <p:nvPr/>
        </p:nvSpPr>
        <p:spPr>
          <a:xfrm>
            <a:off x="6172200" y="4838700"/>
            <a:ext cx="1778000" cy="8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loop unroll</a:t>
            </a:r>
          </a:p>
          <a:p>
            <a:pPr indent="0" lvl="0" marL="0" marR="0" rtl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loop / SLP vectorize</a:t>
            </a:r>
          </a:p>
          <a:p>
            <a:pPr indent="0" lvl="0" marL="0" marR="0" rtl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desvirtualización</a:t>
            </a:r>
          </a:p>
          <a:p>
            <a:pPr indent="0" lvl="0" marL="0" marR="0" rtl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IPSCCP / inlining</a:t>
            </a:r>
          </a:p>
        </p:txBody>
      </p:sp>
      <p:sp>
        <p:nvSpPr>
          <p:cNvPr id="309" name="Google Shape;309;p22"/>
          <p:cNvSpPr txBox="1"/>
          <p:nvPr/>
        </p:nvSpPr>
        <p:spPr>
          <a:xfrm>
            <a:off x="7950200" y="4838700"/>
            <a:ext cx="3327400" cy="8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cuerpos desenrollados, menos saltos (el hash)</a:t>
            </a:r>
          </a:p>
          <a:p>
            <a:pPr indent="0" lvl="0" marL="0" marR="0" rtl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bucles escalares a carriles SIMD, cuando puede</a:t>
            </a:r>
          </a:p>
          <a:p>
            <a:pPr indent="0" lvl="0" marL="0" marR="0" rtl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llamada virtual → directa cuando se conoce el tipo</a:t>
            </a:r>
          </a:p>
          <a:p>
            <a:pPr indent="0" lvl="0" marL="0" marR="0" rtl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constantes y cuerpos fluyen entre funciones</a:t>
            </a:r>
          </a:p>
        </p:txBody>
      </p:sp>
      <p:sp>
        <p:nvSpPr>
          <p:cNvPr id="302" name="Google Shape;302;p22"/>
          <p:cNvSpPr txBox="1"/>
          <p:nvPr/>
        </p:nvSpPr>
        <p:spPr>
          <a:xfrm>
            <a:off x="822960" y="589788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40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Pases sobre el IR. Mismo significado, menos máquina. -O2 / -O3 / -Oz eligen los preajustes.</a:t>
            </a:r>
            <a:endParaRPr/>
          </a:p>
        </p:txBody>
      </p:sp>
      <p:sp>
        <p:nvSpPr>
          <p:cNvPr id="303" name="Google Shape;303;p22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10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23"/>
          <p:cNvSpPr/>
          <p:nvPr/>
        </p:nvSpPr>
        <p:spPr>
          <a:xfrm>
            <a:off x="822960" y="640080"/>
            <a:ext cx="3611879" cy="310896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3"/>
          <p:cNvSpPr txBox="1"/>
          <p:nvPr/>
        </p:nvSpPr>
        <p:spPr>
          <a:xfrm>
            <a:off x="822960" y="658368"/>
            <a:ext cx="36118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PASO 4 · EMITIR + ENLAZAR</a:t>
            </a:r>
            <a:endParaRPr/>
          </a:p>
        </p:txBody>
      </p:sp>
      <p:sp>
        <p:nvSpPr>
          <p:cNvPr id="311" name="Google Shape;311;p2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Del IR a un binario .wasm</a:t>
            </a:r>
            <a:endParaRPr/>
          </a:p>
        </p:txBody>
      </p:sp>
      <p:sp>
        <p:nvSpPr>
          <p:cNvPr id="312" name="Google Shape;312;p23"/>
          <p:cNvSpPr/>
          <p:nvPr/>
        </p:nvSpPr>
        <p:spPr>
          <a:xfrm>
            <a:off x="822960" y="2468880"/>
            <a:ext cx="10543032" cy="749808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5225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23"/>
          <p:cNvSpPr/>
          <p:nvPr/>
        </p:nvSpPr>
        <p:spPr>
          <a:xfrm>
            <a:off x="1005840" y="2615184"/>
            <a:ext cx="457200" cy="457200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3"/>
          <p:cNvSpPr txBox="1"/>
          <p:nvPr/>
        </p:nvSpPr>
        <p:spPr>
          <a:xfrm>
            <a:off x="1005840" y="2651760"/>
            <a:ext cx="457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1</a:t>
            </a:r>
            <a:endParaRPr/>
          </a:p>
        </p:txBody>
      </p:sp>
      <p:sp>
        <p:nvSpPr>
          <p:cNvPr id="315" name="Google Shape;315;p23"/>
          <p:cNvSpPr txBox="1"/>
          <p:nvPr/>
        </p:nvSpPr>
        <p:spPr>
          <a:xfrm>
            <a:off x="1691640" y="2587752"/>
            <a:ext cx="2377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Backend WASM</a:t>
            </a:r>
            <a:endParaRPr/>
          </a:p>
        </p:txBody>
      </p:sp>
      <p:sp>
        <p:nvSpPr>
          <p:cNvPr id="316" name="Google Shape;316;p23"/>
          <p:cNvSpPr txBox="1"/>
          <p:nvPr/>
        </p:nvSpPr>
        <p:spPr>
          <a:xfrm>
            <a:off x="4206240" y="2587752"/>
            <a:ext cx="6949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Selección de instrucciones: IR → ops de WebAssembly.</a:t>
            </a:r>
            <a:endParaRPr/>
          </a:p>
        </p:txBody>
      </p:sp>
      <p:sp>
        <p:nvSpPr>
          <p:cNvPr id="317" name="Google Shape;317;p23"/>
          <p:cNvSpPr/>
          <p:nvPr/>
        </p:nvSpPr>
        <p:spPr>
          <a:xfrm>
            <a:off x="822960" y="3337560"/>
            <a:ext cx="10543032" cy="749808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5225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23"/>
          <p:cNvSpPr/>
          <p:nvPr/>
        </p:nvSpPr>
        <p:spPr>
          <a:xfrm>
            <a:off x="1005840" y="3483864"/>
            <a:ext cx="457200" cy="457200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23"/>
          <p:cNvSpPr txBox="1"/>
          <p:nvPr/>
        </p:nvSpPr>
        <p:spPr>
          <a:xfrm>
            <a:off x="1005840" y="3520440"/>
            <a:ext cx="457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2</a:t>
            </a:r>
            <a:endParaRPr/>
          </a:p>
        </p:txBody>
      </p:sp>
      <p:sp>
        <p:nvSpPr>
          <p:cNvPr id="320" name="Google Shape;320;p23"/>
          <p:cNvSpPr txBox="1"/>
          <p:nvPr/>
        </p:nvSpPr>
        <p:spPr>
          <a:xfrm>
            <a:off x="1691640" y="3456432"/>
            <a:ext cx="2377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wasm-ld</a:t>
            </a:r>
            <a:endParaRPr/>
          </a:p>
        </p:txBody>
      </p:sp>
      <p:sp>
        <p:nvSpPr>
          <p:cNvPr id="321" name="Google Shape;321;p23"/>
          <p:cNvSpPr txBox="1"/>
          <p:nvPr/>
        </p:nvSpPr>
        <p:spPr>
          <a:xfrm>
            <a:off x="4206240" y="3456432"/>
            <a:ext cx="6949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El enlazador de LLVM (LLD) para WASM: resuelve símbolos, distribuye la memoria.</a:t>
            </a:r>
            <a:endParaRPr/>
          </a:p>
        </p:txBody>
      </p:sp>
      <p:sp>
        <p:nvSpPr>
          <p:cNvPr id="322" name="Google Shape;322;p23"/>
          <p:cNvSpPr/>
          <p:nvPr/>
        </p:nvSpPr>
        <p:spPr>
          <a:xfrm>
            <a:off x="822960" y="4206240"/>
            <a:ext cx="10543032" cy="749808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5225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23"/>
          <p:cNvSpPr/>
          <p:nvPr/>
        </p:nvSpPr>
        <p:spPr>
          <a:xfrm>
            <a:off x="1005840" y="4352544"/>
            <a:ext cx="457200" cy="457200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23"/>
          <p:cNvSpPr txBox="1"/>
          <p:nvPr/>
        </p:nvSpPr>
        <p:spPr>
          <a:xfrm>
            <a:off x="1005840" y="4389120"/>
            <a:ext cx="457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/>
          </a:p>
        </p:txBody>
      </p:sp>
      <p:sp>
        <p:nvSpPr>
          <p:cNvPr id="325" name="Google Shape;325;p23"/>
          <p:cNvSpPr txBox="1"/>
          <p:nvPr/>
        </p:nvSpPr>
        <p:spPr>
          <a:xfrm>
            <a:off x="1691640" y="4325112"/>
            <a:ext cx="2377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.wasm</a:t>
            </a:r>
            <a:endParaRPr/>
          </a:p>
        </p:txBody>
      </p:sp>
      <p:sp>
        <p:nvSpPr>
          <p:cNvPr id="326" name="Google Shape;326;p23"/>
          <p:cNvSpPr txBox="1"/>
          <p:nvPr/>
        </p:nvSpPr>
        <p:spPr>
          <a:xfrm>
            <a:off x="4206240" y="4325112"/>
            <a:ext cx="6949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Un artefacto binario real y portable.</a:t>
            </a:r>
            <a:endParaRPr/>
          </a:p>
        </p:txBody>
      </p:sp>
      <p:sp>
        <p:nvSpPr>
          <p:cNvPr id="327" name="Google Shape;327;p23"/>
          <p:cNvSpPr/>
          <p:nvPr/>
        </p:nvSpPr>
        <p:spPr>
          <a:xfrm>
            <a:off x="822960" y="5074920"/>
            <a:ext cx="10543032" cy="749808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5225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3"/>
          <p:cNvSpPr/>
          <p:nvPr/>
        </p:nvSpPr>
        <p:spPr>
          <a:xfrm>
            <a:off x="1005840" y="5221224"/>
            <a:ext cx="457200" cy="457200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23"/>
          <p:cNvSpPr txBox="1"/>
          <p:nvPr/>
        </p:nvSpPr>
        <p:spPr>
          <a:xfrm>
            <a:off x="1005840" y="5257800"/>
            <a:ext cx="457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4</a:t>
            </a:r>
            <a:endParaRPr/>
          </a:p>
        </p:txBody>
      </p:sp>
      <p:sp>
        <p:nvSpPr>
          <p:cNvPr id="330" name="Google Shape;330;p23"/>
          <p:cNvSpPr txBox="1"/>
          <p:nvPr/>
        </p:nvSpPr>
        <p:spPr>
          <a:xfrm>
            <a:off x="1691640" y="5193792"/>
            <a:ext cx="2377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wasm-opt</a:t>
            </a:r>
            <a:endParaRPr/>
          </a:p>
        </p:txBody>
      </p:sp>
      <p:sp>
        <p:nvSpPr>
          <p:cNvPr id="331" name="Google Shape;331;p23"/>
          <p:cNvSpPr txBox="1"/>
          <p:nvPr/>
        </p:nvSpPr>
        <p:spPr>
          <a:xfrm>
            <a:off x="4206240" y="5193792"/>
            <a:ext cx="6949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Binaryen pule el módulo entero en tamaño y velocidad.</a:t>
            </a:r>
            <a:endParaRPr/>
          </a:p>
        </p:txBody>
      </p:sp>
      <p:sp>
        <p:nvSpPr>
          <p:cNvPr id="332" name="Google Shape;332;p23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40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Emscripten orquesta todo esto y añade el pegamento JS: runtime, shims de libc, sistema de archivos.</a:t>
            </a:r>
            <a:endParaRPr/>
          </a:p>
        </p:txBody>
      </p:sp>
      <p:sp>
        <p:nvSpPr>
          <p:cNvPr id="333" name="Google Shape;333;p23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12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2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4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24"/>
          <p:cNvSpPr/>
          <p:nvPr/>
        </p:nvSpPr>
        <p:spPr>
          <a:xfrm>
            <a:off x="822960" y="640080"/>
            <a:ext cx="3447288" cy="310896"/>
          </a:xfrm>
          <a:prstGeom prst="roundRect">
            <a:avLst>
              <a:gd fmla="val 16667" name="adj"/>
            </a:avLst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24"/>
          <p:cNvSpPr txBox="1"/>
          <p:nvPr/>
        </p:nvSpPr>
        <p:spPr>
          <a:xfrm>
            <a:off x="822960" y="658368"/>
            <a:ext cx="344728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PASO 5 · EL MOTOR</a:t>
            </a:r>
            <a:endParaRPr/>
          </a:p>
        </p:txBody>
      </p:sp>
      <p:sp>
        <p:nvSpPr>
          <p:cNvPr id="341" name="Google Shape;341;p24"/>
          <p:cNvSpPr txBox="1"/>
          <p:nvPr/>
        </p:nvSpPr>
        <p:spPr>
          <a:xfrm>
            <a:off x="822960" y="114300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Dentro del motor de JavaScript</a:t>
            </a:r>
            <a:endParaRPr/>
          </a:p>
        </p:txBody>
      </p:sp>
      <p:sp>
        <p:nvSpPr>
          <p:cNvPr id="342" name="Google Shape;342;p24"/>
          <p:cNvSpPr/>
          <p:nvPr/>
        </p:nvSpPr>
        <p:spPr>
          <a:xfrm>
            <a:off x="822960" y="2159000"/>
            <a:ext cx="5074920" cy="1803400"/>
          </a:xfrm>
          <a:prstGeom prst="roundRect">
            <a:avLst>
              <a:gd fmla="val 16667" name="adj"/>
            </a:avLst>
          </a:prstGeom>
          <a:solidFill>
            <a:srgbClr val="2A2047"/>
          </a:solidFill>
          <a:ln cap="flat" cmpd="sng" w="15225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4"/>
          <p:cNvSpPr txBox="1"/>
          <p:nvPr/>
        </p:nvSpPr>
        <p:spPr>
          <a:xfrm>
            <a:off x="1140460" y="2362200"/>
            <a:ext cx="443992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Validar</a:t>
            </a:r>
            <a:endParaRPr/>
          </a:p>
        </p:txBody>
      </p:sp>
      <p:sp>
        <p:nvSpPr>
          <p:cNvPr id="344" name="Google Shape;344;p24"/>
          <p:cNvSpPr txBox="1"/>
          <p:nvPr/>
        </p:nvSpPr>
        <p:spPr>
          <a:xfrm>
            <a:off x="1140460" y="2794000"/>
            <a:ext cx="443992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Una verificación de tipos en una sola pasada sobre todo el módulo, antes de que nada se ejecute. Un módulo que falla nunca corre. El paso más barato y el más importante: es lo que permite a un navegador confiar en un binario de un desconocido.</a:t>
            </a:r>
            <a:endParaRPr/>
          </a:p>
        </p:txBody>
      </p:sp>
      <p:sp>
        <p:nvSpPr>
          <p:cNvPr id="345" name="Google Shape;345;p24"/>
          <p:cNvSpPr/>
          <p:nvPr/>
        </p:nvSpPr>
        <p:spPr>
          <a:xfrm>
            <a:off x="6281420" y="2159000"/>
            <a:ext cx="5074920" cy="1803400"/>
          </a:xfrm>
          <a:prstGeom prst="roundRect">
            <a:avLst>
              <a:gd fmla="val 16667" name="adj"/>
            </a:avLst>
          </a:prstGeom>
          <a:solidFill>
            <a:srgbClr val="2A2047"/>
          </a:solidFill>
          <a:ln cap="flat" cmpd="sng" w="15225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4"/>
          <p:cNvSpPr txBox="1"/>
          <p:nvPr/>
        </p:nvSpPr>
        <p:spPr>
          <a:xfrm>
            <a:off x="6598920" y="2362200"/>
            <a:ext cx="443992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Compilar, dos veces</a:t>
            </a:r>
            <a:endParaRPr/>
          </a:p>
        </p:txBody>
      </p:sp>
      <p:sp>
        <p:nvSpPr>
          <p:cNvPr id="347" name="Google Shape;347;p24"/>
          <p:cNvSpPr txBox="1"/>
          <p:nvPr/>
        </p:nvSpPr>
        <p:spPr>
          <a:xfrm>
            <a:off x="6598920" y="2794000"/>
            <a:ext cx="443992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Liftoff compila cada función rápido, con código mediocre, para que la página arranque ya. Luego V8 observa qué funciones están calientes y recompila solo esas con TurboFan, en un hilo de fondo. El primer render tras cambiar de build en la demo es código de Liftoff.</a:t>
            </a:r>
            <a:endParaRPr/>
          </a:p>
        </p:txBody>
      </p:sp>
      <p:sp>
        <p:nvSpPr>
          <p:cNvPr id="348" name="Google Shape;348;p24"/>
          <p:cNvSpPr/>
          <p:nvPr/>
        </p:nvSpPr>
        <p:spPr>
          <a:xfrm>
            <a:off x="822960" y="4140200"/>
            <a:ext cx="5074920" cy="1803400"/>
          </a:xfrm>
          <a:prstGeom prst="roundRect">
            <a:avLst>
              <a:gd fmla="val 16667" name="adj"/>
            </a:avLst>
          </a:prstGeom>
          <a:solidFill>
            <a:srgbClr val="2A2047"/>
          </a:solidFill>
          <a:ln cap="flat" cmpd="sng" w="15225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4"/>
          <p:cNvSpPr txBox="1"/>
          <p:nvPr/>
        </p:nvSpPr>
        <p:spPr>
          <a:xfrm>
            <a:off x="1140460" y="4343400"/>
            <a:ext cx="443992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Memoria lineal</a:t>
            </a:r>
            <a:endParaRPr/>
          </a:p>
        </p:txBody>
      </p:sp>
      <p:sp>
        <p:nvSpPr>
          <p:cNvPr id="350" name="Google Shape;350;p24"/>
          <p:cNvSpPr txBox="1"/>
          <p:nvPr/>
        </p:nvSpPr>
        <p:spPr>
          <a:xfrm>
            <a:off x="1140460" y="4775200"/>
            <a:ext cx="443992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 módulo recibe un ArrayBuffer y nada más. Un puntero es solo un índice dentro de él. Cada load y store se verifica contra los límites, así que el módulo no puede tocar nada fuera de su propio arreglo.</a:t>
            </a:r>
            <a:endParaRPr/>
          </a:p>
        </p:txBody>
      </p:sp>
      <p:sp>
        <p:nvSpPr>
          <p:cNvPr id="351" name="Google Shape;351;p24"/>
          <p:cNvSpPr/>
          <p:nvPr/>
        </p:nvSpPr>
        <p:spPr>
          <a:xfrm>
            <a:off x="6281420" y="4140200"/>
            <a:ext cx="5074920" cy="1803400"/>
          </a:xfrm>
          <a:prstGeom prst="roundRect">
            <a:avLst>
              <a:gd fmla="val 16667" name="adj"/>
            </a:avLst>
          </a:prstGeom>
          <a:solidFill>
            <a:srgbClr val="2A2047"/>
          </a:solidFill>
          <a:ln cap="flat" cmpd="sng" w="15225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4"/>
          <p:cNvSpPr txBox="1"/>
          <p:nvPr/>
        </p:nvSpPr>
        <p:spPr>
          <a:xfrm>
            <a:off x="6598920" y="4343400"/>
            <a:ext cx="443992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La frontera</a:t>
            </a:r>
            <a:endParaRPr/>
          </a:p>
        </p:txBody>
      </p:sp>
      <p:sp>
        <p:nvSpPr>
          <p:cNvPr id="353" name="Google Shape;353;p24"/>
          <p:cNvSpPr txBox="1"/>
          <p:nvPr/>
        </p:nvSpPr>
        <p:spPr>
          <a:xfrm>
            <a:off x="6598920" y="4775200"/>
            <a:ext cx="443992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Solo los números cruzan directamente entre JavaScript y el módulo: i32, i64, f32, f64. Todo lo demás son bytes en ese arreglo. La siguiente diapositiva muestra lo que eso cuesta.</a:t>
            </a:r>
            <a:endParaRPr/>
          </a:p>
        </p:txBody>
      </p:sp>
      <p:sp>
        <p:nvSpPr>
          <p:cNvPr id="354" name="Google Shape;354;p24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400" u="none" cap="none" strike="noStrike">
                <a:solidFill>
                  <a:srgbClr val="B9A8EC"/>
                </a:solidFill>
                <a:latin typeface="Calibri"/>
                <a:ea typeface="Calibri"/>
                <a:cs typeface="Calibri"/>
                <a:sym typeface="Calibri"/>
              </a:rPr>
              <a:t>Validar → Liftoff → el código caliente sube de nivel en segundo plano → ejecutar. Seguro por construcción: tipos, límites, firmas.</a:t>
            </a:r>
            <a:endParaRPr/>
          </a:p>
        </p:txBody>
      </p:sp>
      <p:sp>
        <p:nvSpPr>
          <p:cNvPr id="355" name="Google Shape;355;p2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15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2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25"/>
          <p:cNvSpPr/>
          <p:nvPr/>
        </p:nvSpPr>
        <p:spPr>
          <a:xfrm>
            <a:off x="822960" y="640080"/>
            <a:ext cx="2295144" cy="310896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5"/>
          <p:cNvSpPr txBox="1"/>
          <p:nvPr/>
        </p:nvSpPr>
        <p:spPr>
          <a:xfrm>
            <a:off x="822960" y="658368"/>
            <a:ext cx="229514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POR QUÉ FUNCIONA</a:t>
            </a:r>
            <a:endParaRPr/>
          </a:p>
        </p:txBody>
      </p:sp>
      <p:sp>
        <p:nvSpPr>
          <p:cNvPr id="363" name="Google Shape;363;p25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Cuatro palabras, desmitificadas</a:t>
            </a:r>
            <a:endParaRPr/>
          </a:p>
        </p:txBody>
      </p:sp>
      <p:sp>
        <p:nvSpPr>
          <p:cNvPr id="364" name="Google Shape;364;p25"/>
          <p:cNvSpPr/>
          <p:nvPr/>
        </p:nvSpPr>
        <p:spPr>
          <a:xfrm>
            <a:off x="822960" y="2286000"/>
            <a:ext cx="2499995" cy="3683000"/>
          </a:xfrm>
          <a:prstGeom prst="roundRect">
            <a:avLst>
              <a:gd fmla="val 16667" name="adj"/>
            </a:avLst>
          </a:prstGeom>
          <a:solidFill>
            <a:srgbClr val="1FB6A6"/>
          </a:solidFill>
          <a:ln>
            <a:noFill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5"/>
          <p:cNvSpPr txBox="1"/>
          <p:nvPr/>
        </p:nvSpPr>
        <p:spPr>
          <a:xfrm>
            <a:off x="1076960" y="2514600"/>
            <a:ext cx="1991995" cy="71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Máquina de pila</a:t>
            </a:r>
            <a:endParaRPr/>
          </a:p>
        </p:txBody>
      </p:sp>
      <p:sp>
        <p:nvSpPr>
          <p:cNvPr id="366" name="Google Shape;366;p25"/>
          <p:cNvSpPr txBox="1"/>
          <p:nvPr/>
        </p:nvSpPr>
        <p:spPr>
          <a:xfrm>
            <a:off x="1076960" y="3276600"/>
            <a:ext cx="1991995" cy="251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Sin registros. Cada instrucción saca sus entradas de una pila tipada y mete su resultado: push a, push 1, shift, push b, add. Tan simple que el motor verifica cada instrucción en una pasada antes de ejecutar ninguna.</a:t>
            </a:r>
            <a:endParaRPr/>
          </a:p>
        </p:txBody>
      </p:sp>
      <p:sp>
        <p:nvSpPr>
          <p:cNvPr id="367" name="Google Shape;367;p25"/>
          <p:cNvSpPr/>
          <p:nvPr/>
        </p:nvSpPr>
        <p:spPr>
          <a:xfrm>
            <a:off x="3500754" y="2286000"/>
            <a:ext cx="2499995" cy="3683000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25"/>
          <p:cNvSpPr txBox="1"/>
          <p:nvPr/>
        </p:nvSpPr>
        <p:spPr>
          <a:xfrm>
            <a:off x="3754754" y="2514600"/>
            <a:ext cx="1991995" cy="71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Memoria lineal</a:t>
            </a:r>
            <a:endParaRPr/>
          </a:p>
        </p:txBody>
      </p:sp>
      <p:sp>
        <p:nvSpPr>
          <p:cNvPr id="369" name="Google Shape;369;p25"/>
          <p:cNvSpPr txBox="1"/>
          <p:nvPr/>
        </p:nvSpPr>
        <p:spPr>
          <a:xfrm>
            <a:off x="3754754" y="3276600"/>
            <a:ext cx="1991995" cy="251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Todo el mundo del módulo es un arreglo plano y creciente de bytes. Un puntero de C++ es solo un índice dentro de él. Cada load y store se verifica contra los límites, y JavaScript ve los mismos bytes como un ArrayBuffer.</a:t>
            </a:r>
            <a:endParaRPr/>
          </a:p>
        </p:txBody>
      </p:sp>
      <p:sp>
        <p:nvSpPr>
          <p:cNvPr id="370" name="Google Shape;370;p25"/>
          <p:cNvSpPr/>
          <p:nvPr/>
        </p:nvSpPr>
        <p:spPr>
          <a:xfrm>
            <a:off x="6178550" y="2286000"/>
            <a:ext cx="2499995" cy="3683000"/>
          </a:xfrm>
          <a:prstGeom prst="roundRect">
            <a:avLst>
              <a:gd fmla="val 16667" name="adj"/>
            </a:avLst>
          </a:prstGeom>
          <a:solidFill>
            <a:srgbClr val="1C1430"/>
          </a:solidFill>
          <a:ln>
            <a:noFill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25"/>
          <p:cNvSpPr txBox="1"/>
          <p:nvPr/>
        </p:nvSpPr>
        <p:spPr>
          <a:xfrm>
            <a:off x="6432550" y="2514600"/>
            <a:ext cx="1991995" cy="71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Caja de arena</a:t>
            </a:r>
            <a:endParaRPr/>
          </a:p>
        </p:txBody>
      </p:sp>
      <p:sp>
        <p:nvSpPr>
          <p:cNvPr id="372" name="Google Shape;372;p25"/>
          <p:cNvSpPr txBox="1"/>
          <p:nvPr/>
        </p:nvSpPr>
        <p:spPr>
          <a:xfrm>
            <a:off x="6432550" y="3276600"/>
            <a:ext cx="1991995" cy="251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Nada es ambiental. Sin DOM, sin archivos, sin red, sin otra memoria. El módulo solo puede llamar a las funciones que JavaScript le entregó, y solo corre cuando la validación dice que cada instrucción está bien tipada.</a:t>
            </a:r>
            <a:endParaRPr/>
          </a:p>
        </p:txBody>
      </p:sp>
      <p:sp>
        <p:nvSpPr>
          <p:cNvPr id="374" name="Google Shape;374;p25"/>
          <p:cNvSpPr/>
          <p:nvPr/>
        </p:nvSpPr>
        <p:spPr>
          <a:xfrm>
            <a:off x="8856345" y="2286000"/>
            <a:ext cx="2499995" cy="3683000"/>
          </a:xfrm>
          <a:prstGeom prst="roundRect">
            <a:avLst>
              <a:gd fmla="val 16667" name="adj"/>
            </a:avLst>
          </a:prstGeom>
          <a:solidFill>
            <a:srgbClr val="EFEAFC"/>
          </a:solidFill>
          <a:ln>
            <a:noFill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25"/>
          <p:cNvSpPr txBox="1"/>
          <p:nvPr/>
        </p:nvSpPr>
        <p:spPr>
          <a:xfrm>
            <a:off x="9110345" y="2514600"/>
            <a:ext cx="1991995" cy="71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Binario portable</a:t>
            </a:r>
            <a:endParaRPr/>
          </a:p>
        </p:txBody>
      </p:sp>
      <p:sp>
        <p:nvSpPr>
          <p:cNvPr id="376" name="Google Shape;376;p25"/>
          <p:cNvSpPr txBox="1"/>
          <p:nvPr/>
        </p:nvSpPr>
        <p:spPr>
          <a:xfrm>
            <a:off x="9110345" y="3276600"/>
            <a:ext cx="1991995" cy="251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Un formato para cada CPU y cada motor. La cadena de herramientas decide qué dicen los bytes; el motor solo decide qué tan rápido corren. Los mismos bytes dan el mismo resultado en cualquier máquina.</a:t>
            </a:r>
            <a:endParaRPr/>
          </a:p>
        </p:txBody>
      </p:sp>
      <p:sp>
        <p:nvSpPr>
          <p:cNvPr id="377" name="Google Shape;377;p25"/>
          <p:cNvSpPr txBox="1"/>
          <p:nvPr/>
        </p:nvSpPr>
        <p:spPr>
          <a:xfrm>
            <a:off x="822960" y="6172200"/>
            <a:ext cx="105156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40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Verificado una vez, encerrado en un arreglo, sin salida salvo los imports, los mismos bytes en todas partes: por eso un navegador puede correr un binario que nunca ha visto.</a:t>
            </a:r>
            <a:endParaRPr/>
          </a:p>
        </p:txBody>
      </p:sp>
      <p:sp>
        <p:nvSpPr>
          <p:cNvPr id="373" name="Google Shape;373;p25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17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2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4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26"/>
          <p:cNvSpPr/>
          <p:nvPr/>
        </p:nvSpPr>
        <p:spPr>
          <a:xfrm>
            <a:off x="822960" y="640080"/>
            <a:ext cx="1801367" cy="310896"/>
          </a:xfrm>
          <a:prstGeom prst="roundRect">
            <a:avLst>
              <a:gd fmla="val 16667" name="adj"/>
            </a:avLst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6"/>
          <p:cNvSpPr txBox="1"/>
          <p:nvPr/>
        </p:nvSpPr>
        <p:spPr>
          <a:xfrm>
            <a:off x="822960" y="658368"/>
            <a:ext cx="18013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DEMO EN VIVO</a:t>
            </a:r>
            <a:endParaRPr/>
          </a:p>
        </p:txBody>
      </p:sp>
      <p:sp>
        <p:nvSpPr>
          <p:cNvPr id="381" name="Google Shape;381;p26"/>
          <p:cNvSpPr txBox="1"/>
          <p:nvPr/>
        </p:nvSpPr>
        <p:spPr>
          <a:xfrm>
            <a:off x="822960" y="1143000"/>
            <a:ext cx="5486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Veámoslo correr</a:t>
            </a:r>
            <a:endParaRPr/>
          </a:p>
        </p:txBody>
      </p:sp>
      <p:pic>
        <p:nvPicPr>
          <p:cNvPr descr="demo-race-tab.png" id="382" name="Google Shape;382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26480" y="1143000"/>
            <a:ext cx="5120640" cy="3413760"/>
          </a:xfrm>
          <a:prstGeom prst="rect">
            <a:avLst/>
          </a:prstGeom>
          <a:noFill/>
          <a:ln>
            <a:noFill/>
          </a:ln>
        </p:spPr>
      </p:pic>
      <p:sp>
        <p:nvSpPr>
          <p:cNvPr id="383" name="Google Shape;383;p26"/>
          <p:cNvSpPr/>
          <p:nvPr/>
        </p:nvSpPr>
        <p:spPr>
          <a:xfrm>
            <a:off x="822960" y="2331720"/>
            <a:ext cx="109728" cy="609600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26"/>
          <p:cNvSpPr txBox="1"/>
          <p:nvPr/>
        </p:nvSpPr>
        <p:spPr>
          <a:xfrm>
            <a:off x="1097280" y="2331720"/>
            <a:ext cx="4754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1 · La tubería, en vivo</a:t>
            </a:r>
            <a:endParaRPr/>
          </a:p>
        </p:txBody>
      </p:sp>
      <p:sp>
        <p:nvSpPr>
          <p:cNvPr id="385" name="Google Shape;385;p26"/>
          <p:cNvSpPr txBox="1"/>
          <p:nvPr/>
        </p:nvSpPr>
        <p:spPr>
          <a:xfrm>
            <a:off x="1097280" y="2611120"/>
            <a:ext cx="4754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add() → una plantilla que desaparece → constexpr → una llamada virtual. Fuente, IR en -O0, IR en -O2, texto WASM y los bytes, para cada uno.</a:t>
            </a:r>
            <a:endParaRPr/>
          </a:p>
        </p:txBody>
      </p:sp>
      <p:sp>
        <p:nvSpPr>
          <p:cNvPr id="386" name="Google Shape;386;p26"/>
          <p:cNvSpPr/>
          <p:nvPr/>
        </p:nvSpPr>
        <p:spPr>
          <a:xfrm>
            <a:off x="822960" y="3169920"/>
            <a:ext cx="109728" cy="609600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26"/>
          <p:cNvSpPr txBox="1"/>
          <p:nvPr/>
        </p:nvSpPr>
        <p:spPr>
          <a:xfrm>
            <a:off x="1097280" y="3169920"/>
            <a:ext cx="4754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2 · El optimizador, medido</a:t>
            </a:r>
            <a:endParaRPr/>
          </a:p>
        </p:txBody>
      </p:sp>
      <p:sp>
        <p:nvSpPr>
          <p:cNvPr id="388" name="Google Shape;388;p26"/>
          <p:cNvSpPr txBox="1"/>
          <p:nvPr/>
        </p:nvSpPr>
        <p:spPr>
          <a:xfrm>
            <a:off x="1097280" y="3449320"/>
            <a:ext cx="4754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JavaScript contra el mismo C++ en -O0, -O1, -O2, -O3 y -O3 con SIMD. Mismo fuente, mismo motor, píxeles idénticos.</a:t>
            </a:r>
            <a:endParaRPr/>
          </a:p>
        </p:txBody>
      </p:sp>
      <p:sp>
        <p:nvSpPr>
          <p:cNvPr id="389" name="Google Shape;389;p26"/>
          <p:cNvSpPr/>
          <p:nvPr/>
        </p:nvSpPr>
        <p:spPr>
          <a:xfrm>
            <a:off x="822960" y="4008120"/>
            <a:ext cx="109728" cy="609600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26"/>
          <p:cNvSpPr txBox="1"/>
          <p:nvPr/>
        </p:nvSpPr>
        <p:spPr>
          <a:xfrm>
            <a:off x="1097280" y="4008120"/>
            <a:ext cx="4754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3 · El laboratorio de la frontera</a:t>
            </a:r>
            <a:endParaRPr/>
          </a:p>
        </p:txBody>
      </p:sp>
      <p:sp>
        <p:nvSpPr>
          <p:cNvPr id="391" name="Google Shape;391;p26"/>
          <p:cNvSpPr txBox="1"/>
          <p:nvPr/>
        </p:nvSpPr>
        <p:spPr>
          <a:xfrm>
            <a:off x="1097280" y="4287520"/>
            <a:ext cx="4754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add(20, 2) · un i64 llega como BigInt · un string es puntero + longitud · memory.grow() desconecta todas las vistas.</a:t>
            </a:r>
            <a:endParaRPr/>
          </a:p>
        </p:txBody>
      </p:sp>
      <p:sp>
        <p:nvSpPr>
          <p:cNvPr id="398" name="Google Shape;398;p26"/>
          <p:cNvSpPr/>
          <p:nvPr/>
        </p:nvSpPr>
        <p:spPr>
          <a:xfrm>
            <a:off x="822960" y="4846320"/>
            <a:ext cx="109728" cy="609600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26"/>
          <p:cNvSpPr txBox="1"/>
          <p:nvPr/>
        </p:nvSpPr>
        <p:spPr>
          <a:xfrm>
            <a:off x="1097280" y="4846320"/>
            <a:ext cx="4754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4 · Donde JavaScript no puede empatar</a:t>
            </a:r>
            <a:endParaRPr/>
          </a:p>
        </p:txBody>
      </p:sp>
      <p:sp>
        <p:nvSpPr>
          <p:cNvPr id="400" name="Google Shape;400;p26"/>
          <p:cNvSpPr txBox="1"/>
          <p:nvPr/>
        </p:nvSpPr>
        <p:spPr>
          <a:xfrm>
            <a:off x="1097280" y="5125720"/>
            <a:ext cx="4754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Un hash de 64 bits de cuatro maneras: BigInt, mitades de 32 bits a mano, C++ en -O0 y -O3. El mismo hash en los cuatro; los tiempos no.</a:t>
            </a:r>
            <a:endParaRPr/>
          </a:p>
        </p:txBody>
      </p:sp>
      <p:sp>
        <p:nvSpPr>
          <p:cNvPr id="395" name="Google Shape;395;p26"/>
          <p:cNvSpPr txBox="1"/>
          <p:nvPr/>
        </p:nvSpPr>
        <p:spPr>
          <a:xfrm>
            <a:off x="6126480" y="4666488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50" u="none" cap="none" strike="noStrike">
                <a:solidFill>
                  <a:srgbClr val="B9A8EC"/>
                </a:solidFill>
                <a:latin typeface="Calibri"/>
                <a:ea typeface="Calibri"/>
                <a:cs typeface="Calibri"/>
                <a:sym typeface="Calibri"/>
              </a:rPr>
              <a:t>La pestaña de la carrera: seis builds de un archivo C++, píxeles idénticos, los milisegundos cuentan la historia.</a:t>
            </a:r>
            <a:endParaRPr/>
          </a:p>
        </p:txBody>
      </p:sp>
      <p:sp>
        <p:nvSpPr>
          <p:cNvPr id="397" name="Google Shape;397;p26"/>
          <p:cNvSpPr txBox="1"/>
          <p:nvPr/>
        </p:nvSpPr>
        <p:spPr>
          <a:xfrm>
            <a:off x="822960" y="5669280"/>
            <a:ext cx="10424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9A8EC"/>
                </a:solidFill>
                <a:latin typeface="Consolas"/>
                <a:ea typeface="Consolas"/>
                <a:cs typeface="Consolas"/>
                <a:sym typeface="Consolas"/>
              </a:rPr>
              <a:t>kevinwkt.github.io/from-cpp-to-the-browser/demo    teclas: 1 2 3 4 · R carrera (2 o 4) · S sorpresa · Z alejar · 0 reset</a:t>
            </a:r>
            <a:endParaRPr/>
          </a:p>
        </p:txBody>
      </p:sp>
      <p:sp>
        <p:nvSpPr>
          <p:cNvPr id="396" name="Google Shape;396;p26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18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2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4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27"/>
          <p:cNvSpPr/>
          <p:nvPr/>
        </p:nvSpPr>
        <p:spPr>
          <a:xfrm>
            <a:off x="822960" y="2194560"/>
            <a:ext cx="146304" cy="2194560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27"/>
          <p:cNvSpPr txBox="1"/>
          <p:nvPr/>
        </p:nvSpPr>
        <p:spPr>
          <a:xfrm>
            <a:off x="1188720" y="2148840"/>
            <a:ext cx="10058400" cy="2377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FB6A6"/>
                </a:solidFill>
                <a:latin typeface="Calibri"/>
                <a:ea typeface="Calibri"/>
                <a:cs typeface="Calibri"/>
                <a:sym typeface="Calibri"/>
              </a:rPr>
              <a:t>ACTO II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5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La sala de máquinas</a:t>
            </a:r>
            <a:endParaRPr/>
          </a:p>
        </p:txBody>
      </p:sp>
      <p:sp>
        <p:nvSpPr>
          <p:cNvPr id="404" name="Google Shape;404;p27"/>
          <p:cNvSpPr txBox="1"/>
          <p:nvPr/>
        </p:nvSpPr>
        <p:spPr>
          <a:xfrm>
            <a:off x="1188720" y="4754880"/>
            <a:ext cx="100584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2200" u="none" cap="none" strike="noStrike">
                <a:solidFill>
                  <a:srgbClr val="B9A8EC"/>
                </a:solidFill>
                <a:latin typeface="Georgia"/>
                <a:ea typeface="Georgia"/>
                <a:cs typeface="Georgia"/>
                <a:sym typeface="Georgia"/>
              </a:rPr>
              <a:t>Todo hasta ahora fue el camino feliz.</a:t>
            </a:r>
            <a:endParaRPr/>
          </a:p>
        </p:txBody>
      </p:sp>
      <p:sp>
        <p:nvSpPr>
          <p:cNvPr id="405" name="Google Shape;405;p27"/>
          <p:cNvSpPr txBox="1"/>
          <p:nvPr/>
        </p:nvSpPr>
        <p:spPr>
          <a:xfrm>
            <a:off x="1188720" y="566928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Ahora: lo que cuesta operar esta tubería para miles de ingenieros.</a:t>
            </a:r>
            <a:endParaRPr/>
          </a:p>
        </p:txBody>
      </p:sp>
      <p:sp>
        <p:nvSpPr>
          <p:cNvPr id="406" name="Google Shape;406;p27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19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2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28"/>
          <p:cNvSpPr/>
          <p:nvPr/>
        </p:nvSpPr>
        <p:spPr>
          <a:xfrm>
            <a:off x="822960" y="640080"/>
            <a:ext cx="1965960" cy="310896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28"/>
          <p:cNvSpPr txBox="1"/>
          <p:nvPr/>
        </p:nvSpPr>
        <p:spPr>
          <a:xfrm>
            <a:off x="822960" y="658368"/>
            <a:ext cx="1965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MI TRABAJO DIARIO</a:t>
            </a:r>
            <a:endParaRPr/>
          </a:p>
        </p:txBody>
      </p:sp>
      <p:sp>
        <p:nvSpPr>
          <p:cNvPr id="414" name="Google Shape;414;p28"/>
          <p:cNvSpPr txBox="1"/>
          <p:nvPr/>
        </p:nvSpPr>
        <p:spPr>
          <a:xfrm>
            <a:off x="822960" y="1097280"/>
            <a:ext cx="1060704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Tomo el LLVM de upstream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y lo aterrizo dentro de Google.</a:t>
            </a:r>
            <a:endParaRPr/>
          </a:p>
        </p:txBody>
      </p:sp>
      <p:sp>
        <p:nvSpPr>
          <p:cNvPr id="415" name="Google Shape;415;p28"/>
          <p:cNvSpPr/>
          <p:nvPr/>
        </p:nvSpPr>
        <p:spPr>
          <a:xfrm>
            <a:off x="822960" y="3063240"/>
            <a:ext cx="5074920" cy="1207008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28"/>
          <p:cNvSpPr/>
          <p:nvPr/>
        </p:nvSpPr>
        <p:spPr>
          <a:xfrm>
            <a:off x="822960" y="3063240"/>
            <a:ext cx="109728" cy="1207008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28"/>
          <p:cNvSpPr txBox="1"/>
          <p:nvPr/>
        </p:nvSpPr>
        <p:spPr>
          <a:xfrm>
            <a:off x="1143000" y="324612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Integración</a:t>
            </a:r>
            <a:endParaRPr/>
          </a:p>
        </p:txBody>
      </p:sp>
      <p:sp>
        <p:nvSpPr>
          <p:cNvPr id="418" name="Google Shape;418;p28"/>
          <p:cNvSpPr txBox="1"/>
          <p:nvPr/>
        </p:nvSpPr>
        <p:spPr>
          <a:xfrm>
            <a:off x="1143000" y="3721608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Construir el compilador de código abierto contra una base de código interna gigante.</a:t>
            </a:r>
            <a:endParaRPr/>
          </a:p>
        </p:txBody>
      </p:sp>
      <p:sp>
        <p:nvSpPr>
          <p:cNvPr id="419" name="Google Shape;419;p28"/>
          <p:cNvSpPr/>
          <p:nvPr/>
        </p:nvSpPr>
        <p:spPr>
          <a:xfrm>
            <a:off x="6281928" y="3063240"/>
            <a:ext cx="5074920" cy="1207008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28"/>
          <p:cNvSpPr/>
          <p:nvPr/>
        </p:nvSpPr>
        <p:spPr>
          <a:xfrm>
            <a:off x="6281928" y="3063240"/>
            <a:ext cx="109728" cy="1207008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28"/>
          <p:cNvSpPr txBox="1"/>
          <p:nvPr/>
        </p:nvSpPr>
        <p:spPr>
          <a:xfrm>
            <a:off x="6601968" y="324612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Trenes de release</a:t>
            </a:r>
            <a:endParaRPr/>
          </a:p>
        </p:txBody>
      </p:sp>
      <p:sp>
        <p:nvSpPr>
          <p:cNvPr id="422" name="Google Shape;422;p28"/>
          <p:cNvSpPr txBox="1"/>
          <p:nvPr/>
        </p:nvSpPr>
        <p:spPr>
          <a:xfrm>
            <a:off x="6601968" y="3721608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Mover a todos a un compilador más nuevo sin romperle nada a nadie.</a:t>
            </a:r>
            <a:endParaRPr/>
          </a:p>
        </p:txBody>
      </p:sp>
      <p:sp>
        <p:nvSpPr>
          <p:cNvPr id="423" name="Google Shape;423;p28"/>
          <p:cNvSpPr/>
          <p:nvPr/>
        </p:nvSpPr>
        <p:spPr>
          <a:xfrm>
            <a:off x="822960" y="4480560"/>
            <a:ext cx="5074920" cy="1207008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28"/>
          <p:cNvSpPr/>
          <p:nvPr/>
        </p:nvSpPr>
        <p:spPr>
          <a:xfrm>
            <a:off x="822960" y="4480560"/>
            <a:ext cx="109728" cy="1207008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28"/>
          <p:cNvSpPr txBox="1"/>
          <p:nvPr/>
        </p:nvSpPr>
        <p:spPr>
          <a:xfrm>
            <a:off x="1143000" y="466344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Reproducibilidad</a:t>
            </a:r>
            <a:endParaRPr/>
          </a:p>
        </p:txBody>
      </p:sp>
      <p:sp>
        <p:nvSpPr>
          <p:cNvPr id="426" name="Google Shape;426;p28"/>
          <p:cNvSpPr txBox="1"/>
          <p:nvPr/>
        </p:nvSpPr>
        <p:spPr>
          <a:xfrm>
            <a:off x="1143000" y="5138928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Mismas entradas → mismos bits, en cada máquina, para siempre.</a:t>
            </a:r>
            <a:endParaRPr/>
          </a:p>
        </p:txBody>
      </p:sp>
      <p:sp>
        <p:nvSpPr>
          <p:cNvPr id="427" name="Google Shape;427;p28"/>
          <p:cNvSpPr/>
          <p:nvPr/>
        </p:nvSpPr>
        <p:spPr>
          <a:xfrm>
            <a:off x="6281928" y="4480560"/>
            <a:ext cx="5074920" cy="1207008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28"/>
          <p:cNvSpPr/>
          <p:nvPr/>
        </p:nvSpPr>
        <p:spPr>
          <a:xfrm>
            <a:off x="6281928" y="4480560"/>
            <a:ext cx="109728" cy="1207008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28"/>
          <p:cNvSpPr txBox="1"/>
          <p:nvPr/>
        </p:nvSpPr>
        <p:spPr>
          <a:xfrm>
            <a:off x="6601968" y="466344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Acceso de commit en upstream</a:t>
            </a:r>
            <a:endParaRPr/>
          </a:p>
        </p:txBody>
      </p:sp>
      <p:sp>
        <p:nvSpPr>
          <p:cNvPr id="430" name="Google Shape;430;p28"/>
          <p:cNvSpPr txBox="1"/>
          <p:nvPr/>
        </p:nvSpPr>
        <p:spPr>
          <a:xfrm>
            <a:off x="6601968" y="5138928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Arreglar los problemas en el origen y devolverlos.</a:t>
            </a:r>
            <a:endParaRPr/>
          </a:p>
        </p:txBody>
      </p:sp>
      <p:sp>
        <p:nvSpPr>
          <p:cNvPr id="431" name="Google Shape;431;p28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20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2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4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29"/>
          <p:cNvSpPr/>
          <p:nvPr/>
        </p:nvSpPr>
        <p:spPr>
          <a:xfrm>
            <a:off x="822960" y="731520"/>
            <a:ext cx="1801367" cy="310896"/>
          </a:xfrm>
          <a:prstGeom prst="roundRect">
            <a:avLst>
              <a:gd fmla="val 16667" name="adj"/>
            </a:avLst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29"/>
          <p:cNvSpPr txBox="1"/>
          <p:nvPr/>
        </p:nvSpPr>
        <p:spPr>
          <a:xfrm>
            <a:off x="822960" y="749808"/>
            <a:ext cx="18013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HISTORIA DE GUERRA</a:t>
            </a:r>
            <a:endParaRPr/>
          </a:p>
        </p:txBody>
      </p:sp>
      <p:sp>
        <p:nvSpPr>
          <p:cNvPr id="439" name="Google Shape;439;p29"/>
          <p:cNvSpPr txBox="1"/>
          <p:nvPr/>
        </p:nvSpPr>
        <p:spPr>
          <a:xfrm>
            <a:off x="822960" y="1371600"/>
            <a:ext cx="105156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Una actualización «correcta» del compilador.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Un puñado de binarios sutilmente mal.</a:t>
            </a:r>
            <a:endParaRPr/>
          </a:p>
        </p:txBody>
      </p:sp>
      <p:sp>
        <p:nvSpPr>
          <p:cNvPr id="440" name="Google Shape;440;p29"/>
          <p:cNvSpPr/>
          <p:nvPr/>
        </p:nvSpPr>
        <p:spPr>
          <a:xfrm>
            <a:off x="822960" y="3108960"/>
            <a:ext cx="457200" cy="457200"/>
          </a:xfrm>
          <a:prstGeom prst="roundRect">
            <a:avLst>
              <a:gd fmla="val 16667" name="adj"/>
            </a:avLst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29"/>
          <p:cNvSpPr txBox="1"/>
          <p:nvPr/>
        </p:nvSpPr>
        <p:spPr>
          <a:xfrm>
            <a:off x="822960" y="3145536"/>
            <a:ext cx="457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1</a:t>
            </a:r>
            <a:endParaRPr/>
          </a:p>
        </p:txBody>
      </p:sp>
      <p:sp>
        <p:nvSpPr>
          <p:cNvPr id="442" name="Google Shape;442;p29"/>
          <p:cNvSpPr txBox="1"/>
          <p:nvPr/>
        </p:nvSpPr>
        <p:spPr>
          <a:xfrm>
            <a:off x="1508760" y="3090672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B9A8EC"/>
                </a:solidFill>
                <a:latin typeface="Georgia"/>
                <a:ea typeface="Georgia"/>
                <a:cs typeface="Georgia"/>
                <a:sym typeface="Georgia"/>
              </a:rPr>
              <a:t>Todo en verde</a:t>
            </a:r>
            <a:endParaRPr/>
          </a:p>
        </p:txBody>
      </p:sp>
      <p:sp>
        <p:nvSpPr>
          <p:cNvPr id="443" name="Google Shape;443;p29"/>
          <p:cNvSpPr txBox="1"/>
          <p:nvPr/>
        </p:nvSpPr>
        <p:spPr>
          <a:xfrm>
            <a:off x="4754880" y="3090672"/>
            <a:ext cx="6492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Todas las pruebas pasaron. La actualización se veía completamente limpia.</a:t>
            </a:r>
            <a:endParaRPr/>
          </a:p>
        </p:txBody>
      </p:sp>
      <p:sp>
        <p:nvSpPr>
          <p:cNvPr id="444" name="Google Shape;444;p29"/>
          <p:cNvSpPr/>
          <p:nvPr/>
        </p:nvSpPr>
        <p:spPr>
          <a:xfrm>
            <a:off x="822960" y="3950208"/>
            <a:ext cx="457200" cy="457200"/>
          </a:xfrm>
          <a:prstGeom prst="roundRect">
            <a:avLst>
              <a:gd fmla="val 16667" name="adj"/>
            </a:avLst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29"/>
          <p:cNvSpPr txBox="1"/>
          <p:nvPr/>
        </p:nvSpPr>
        <p:spPr>
          <a:xfrm>
            <a:off x="822960" y="3986784"/>
            <a:ext cx="457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2</a:t>
            </a:r>
            <a:endParaRPr/>
          </a:p>
        </p:txBody>
      </p:sp>
      <p:sp>
        <p:nvSpPr>
          <p:cNvPr id="446" name="Google Shape;446;p29"/>
          <p:cNvSpPr txBox="1"/>
          <p:nvPr/>
        </p:nvSpPr>
        <p:spPr>
          <a:xfrm>
            <a:off x="1508760" y="393192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B9A8EC"/>
                </a:solidFill>
                <a:latin typeface="Georgia"/>
                <a:ea typeface="Georgia"/>
                <a:cs typeface="Georgia"/>
                <a:sym typeface="Georgia"/>
              </a:rPr>
              <a:t>Equivocado con confianza</a:t>
            </a:r>
            <a:endParaRPr/>
          </a:p>
        </p:txBody>
      </p:sp>
      <p:sp>
        <p:nvSpPr>
          <p:cNvPr id="447" name="Google Shape;447;p29"/>
          <p:cNvSpPr txBox="1"/>
          <p:nvPr/>
        </p:nvSpPr>
        <p:spPr>
          <a:xfrm>
            <a:off x="4754880" y="3931920"/>
            <a:ext cx="6492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 un crash: unos pocos binarios producían una salida sutilmente incorrecta.</a:t>
            </a:r>
            <a:endParaRPr/>
          </a:p>
        </p:txBody>
      </p:sp>
      <p:sp>
        <p:nvSpPr>
          <p:cNvPr id="448" name="Google Shape;448;p29"/>
          <p:cNvSpPr/>
          <p:nvPr/>
        </p:nvSpPr>
        <p:spPr>
          <a:xfrm>
            <a:off x="822960" y="4791456"/>
            <a:ext cx="457200" cy="457200"/>
          </a:xfrm>
          <a:prstGeom prst="roundRect">
            <a:avLst>
              <a:gd fmla="val 16667" name="adj"/>
            </a:avLst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29"/>
          <p:cNvSpPr txBox="1"/>
          <p:nvPr/>
        </p:nvSpPr>
        <p:spPr>
          <a:xfrm>
            <a:off x="822960" y="4828032"/>
            <a:ext cx="457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/>
          </a:p>
        </p:txBody>
      </p:sp>
      <p:sp>
        <p:nvSpPr>
          <p:cNvPr id="450" name="Google Shape;450;p29"/>
          <p:cNvSpPr txBox="1"/>
          <p:nvPr/>
        </p:nvSpPr>
        <p:spPr>
          <a:xfrm>
            <a:off x="1508760" y="4773168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B9A8EC"/>
                </a:solidFill>
                <a:latin typeface="Georgia"/>
                <a:ea typeface="Georgia"/>
                <a:cs typeface="Georgia"/>
                <a:sym typeface="Georgia"/>
              </a:rPr>
              <a:t>Bisecar a escala</a:t>
            </a:r>
            <a:endParaRPr/>
          </a:p>
        </p:txBody>
      </p:sp>
      <p:sp>
        <p:nvSpPr>
          <p:cNvPr id="451" name="Google Shape;451;p29"/>
          <p:cNvSpPr txBox="1"/>
          <p:nvPr/>
        </p:nvSpPr>
        <p:spPr>
          <a:xfrm>
            <a:off x="4754880" y="4773168"/>
            <a:ext cx="6492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Acotar un rango de cambios de upstream a través de muchos destinos.</a:t>
            </a:r>
            <a:endParaRPr/>
          </a:p>
        </p:txBody>
      </p:sp>
      <p:sp>
        <p:nvSpPr>
          <p:cNvPr id="452" name="Google Shape;452;p29"/>
          <p:cNvSpPr/>
          <p:nvPr/>
        </p:nvSpPr>
        <p:spPr>
          <a:xfrm>
            <a:off x="822960" y="5632704"/>
            <a:ext cx="457200" cy="457200"/>
          </a:xfrm>
          <a:prstGeom prst="roundRect">
            <a:avLst>
              <a:gd fmla="val 16667" name="adj"/>
            </a:avLst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29"/>
          <p:cNvSpPr txBox="1"/>
          <p:nvPr/>
        </p:nvSpPr>
        <p:spPr>
          <a:xfrm>
            <a:off x="822960" y="5669280"/>
            <a:ext cx="4572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4</a:t>
            </a:r>
            <a:endParaRPr/>
          </a:p>
        </p:txBody>
      </p:sp>
      <p:sp>
        <p:nvSpPr>
          <p:cNvPr id="454" name="Google Shape;454;p29"/>
          <p:cNvSpPr txBox="1"/>
          <p:nvPr/>
        </p:nvSpPr>
        <p:spPr>
          <a:xfrm>
            <a:off x="1508760" y="5614416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B9A8EC"/>
                </a:solidFill>
                <a:latin typeface="Georgia"/>
                <a:ea typeface="Georgia"/>
                <a:cs typeface="Georgia"/>
                <a:sym typeface="Georgia"/>
              </a:rPr>
              <a:t>El punto: confianza</a:t>
            </a:r>
            <a:endParaRPr/>
          </a:p>
        </p:txBody>
      </p:sp>
      <p:sp>
        <p:nvSpPr>
          <p:cNvPr id="455" name="Google Shape;455;p29"/>
          <p:cNvSpPr txBox="1"/>
          <p:nvPr/>
        </p:nvSpPr>
        <p:spPr>
          <a:xfrm>
            <a:off x="4754880" y="5614416"/>
            <a:ext cx="6492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 escala, «compila» no es la vara. Lo es una corrección en la que puedas confiar.</a:t>
            </a:r>
            <a:endParaRPr/>
          </a:p>
        </p:txBody>
      </p:sp>
      <p:sp>
        <p:nvSpPr>
          <p:cNvPr id="456" name="Google Shape;456;p29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21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3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30"/>
          <p:cNvSpPr/>
          <p:nvPr/>
        </p:nvSpPr>
        <p:spPr>
          <a:xfrm>
            <a:off x="822960" y="640080"/>
            <a:ext cx="1636776" cy="310896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30"/>
          <p:cNvSpPr txBox="1"/>
          <p:nvPr/>
        </p:nvSpPr>
        <p:spPr>
          <a:xfrm>
            <a:off x="822960" y="658368"/>
            <a:ext cx="16367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 ESCALA</a:t>
            </a:r>
            <a:endParaRPr/>
          </a:p>
        </p:txBody>
      </p:sp>
      <p:sp>
        <p:nvSpPr>
          <p:cNvPr id="464" name="Google Shape;464;p30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La reproducibilidad convierte una herramienta en infraestructura</a:t>
            </a:r>
            <a:endParaRPr/>
          </a:p>
        </p:txBody>
      </p:sp>
      <p:sp>
        <p:nvSpPr>
          <p:cNvPr id="465" name="Google Shape;465;p30"/>
          <p:cNvSpPr/>
          <p:nvPr/>
        </p:nvSpPr>
        <p:spPr>
          <a:xfrm>
            <a:off x="822960" y="2514600"/>
            <a:ext cx="10543032" cy="1371600"/>
          </a:xfrm>
          <a:prstGeom prst="roundRect">
            <a:avLst>
              <a:gd fmla="val 16667" name="adj"/>
            </a:avLst>
          </a:prstGeom>
          <a:solidFill>
            <a:srgbClr val="1C1430"/>
          </a:solidFill>
          <a:ln>
            <a:noFill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30"/>
          <p:cNvSpPr txBox="1"/>
          <p:nvPr/>
        </p:nvSpPr>
        <p:spPr>
          <a:xfrm>
            <a:off x="1188720" y="2743200"/>
            <a:ext cx="98755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Mismas entradas  →  los mismos bits, cada vez.</a:t>
            </a:r>
            <a:endParaRPr/>
          </a:p>
        </p:txBody>
      </p:sp>
      <p:sp>
        <p:nvSpPr>
          <p:cNvPr id="467" name="Google Shape;467;p30"/>
          <p:cNvSpPr txBox="1"/>
          <p:nvPr/>
        </p:nvSpPr>
        <p:spPr>
          <a:xfrm>
            <a:off x="822960" y="4251960"/>
            <a:ext cx="34290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Builds herméticos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Entradas selladas; nada se filtra desde la máquina.</a:t>
            </a:r>
            <a:endParaRPr/>
          </a:p>
        </p:txBody>
      </p:sp>
      <p:sp>
        <p:nvSpPr>
          <p:cNvPr id="468" name="Google Shape;468;p30"/>
          <p:cNvSpPr txBox="1"/>
          <p:nvPr/>
        </p:nvSpPr>
        <p:spPr>
          <a:xfrm>
            <a:off x="4416552" y="4251960"/>
            <a:ext cx="34290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Toolchains fijadas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Todos en una versión exacta y conocida del compilador.</a:t>
            </a:r>
            <a:endParaRPr/>
          </a:p>
        </p:txBody>
      </p:sp>
      <p:sp>
        <p:nvSpPr>
          <p:cNvPr id="469" name="Google Shape;469;p30"/>
          <p:cNvSpPr txBox="1"/>
          <p:nvPr/>
        </p:nvSpPr>
        <p:spPr>
          <a:xfrm>
            <a:off x="8010144" y="4251960"/>
            <a:ext cx="34290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Bit por bit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Dos builds del mismo código son idénticos byte a byte.</a:t>
            </a:r>
            <a:endParaRPr/>
          </a:p>
        </p:txBody>
      </p:sp>
      <p:sp>
        <p:nvSpPr>
          <p:cNvPr id="470" name="Google Shape;470;p30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40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Es lo que permite a miles de ingenieros confiar en la toolchain lo suficiente como para nunca pensar en ella.</a:t>
            </a:r>
            <a:endParaRPr/>
          </a:p>
        </p:txBody>
      </p:sp>
      <p:sp>
        <p:nvSpPr>
          <p:cNvPr id="471" name="Google Shape;471;p30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22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p3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1"/>
          <p:cNvSpPr/>
          <p:nvPr/>
        </p:nvSpPr>
        <p:spPr>
          <a:xfrm>
            <a:off x="822960" y="640080"/>
            <a:ext cx="1801367" cy="310896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31"/>
          <p:cNvSpPr txBox="1"/>
          <p:nvPr/>
        </p:nvSpPr>
        <p:spPr>
          <a:xfrm>
            <a:off x="822960" y="658368"/>
            <a:ext cx="18013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SEAMOS HONESTOS</a:t>
            </a:r>
            <a:endParaRPr/>
          </a:p>
        </p:txBody>
      </p:sp>
      <p:sp>
        <p:nvSpPr>
          <p:cNvPr id="479" name="Google Shape;479;p31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Los bordes filosos</a:t>
            </a:r>
            <a:endParaRPr/>
          </a:p>
        </p:txBody>
      </p:sp>
      <p:sp>
        <p:nvSpPr>
          <p:cNvPr id="480" name="Google Shape;480;p31"/>
          <p:cNvSpPr/>
          <p:nvPr/>
        </p:nvSpPr>
        <p:spPr>
          <a:xfrm>
            <a:off x="822960" y="2514600"/>
            <a:ext cx="5074920" cy="137160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31"/>
          <p:cNvSpPr txBox="1"/>
          <p:nvPr/>
        </p:nvSpPr>
        <p:spPr>
          <a:xfrm>
            <a:off x="1143000" y="27432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Depurar es más difícil</a:t>
            </a:r>
            <a:endParaRPr/>
          </a:p>
        </p:txBody>
      </p:sp>
      <p:sp>
        <p:nvSpPr>
          <p:cNvPr id="482" name="Google Shape;482;p31"/>
          <p:cNvSpPr txBox="1"/>
          <p:nvPr/>
        </p:nvSpPr>
        <p:spPr>
          <a:xfrm>
            <a:off x="1143000" y="3246120"/>
            <a:ext cx="4572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DWARF en wasm y los source maps existen, pero van detrás de lo nativo.</a:t>
            </a:r>
            <a:endParaRPr/>
          </a:p>
        </p:txBody>
      </p:sp>
      <p:sp>
        <p:nvSpPr>
          <p:cNvPr id="483" name="Google Shape;483;p31"/>
          <p:cNvSpPr/>
          <p:nvPr/>
        </p:nvSpPr>
        <p:spPr>
          <a:xfrm>
            <a:off x="6281928" y="2514600"/>
            <a:ext cx="5074920" cy="137160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31"/>
          <p:cNvSpPr txBox="1"/>
          <p:nvPr/>
        </p:nvSpPr>
        <p:spPr>
          <a:xfrm>
            <a:off x="6601968" y="27432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La frontera cuesta</a:t>
            </a:r>
            <a:endParaRPr/>
          </a:p>
        </p:txBody>
      </p:sp>
      <p:sp>
        <p:nvSpPr>
          <p:cNvPr id="485" name="Google Shape;485;p31"/>
          <p:cNvSpPr txBox="1"/>
          <p:nvPr/>
        </p:nvSpPr>
        <p:spPr>
          <a:xfrm>
            <a:off x="6601968" y="3246120"/>
            <a:ext cx="4572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Cruzar JS ↔ WASM y copiar datos no es gratis.</a:t>
            </a:r>
            <a:endParaRPr/>
          </a:p>
        </p:txBody>
      </p:sp>
      <p:sp>
        <p:nvSpPr>
          <p:cNvPr id="486" name="Google Shape;486;p31"/>
          <p:cNvSpPr/>
          <p:nvPr/>
        </p:nvSpPr>
        <p:spPr>
          <a:xfrm>
            <a:off x="822960" y="4114800"/>
            <a:ext cx="5074920" cy="137160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31"/>
          <p:cNvSpPr txBox="1"/>
          <p:nvPr/>
        </p:nvSpPr>
        <p:spPr>
          <a:xfrm>
            <a:off x="1143000" y="43434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Las herramientas siguen cambiando</a:t>
            </a:r>
            <a:endParaRPr/>
          </a:p>
        </p:txBody>
      </p:sp>
      <p:sp>
        <p:nvSpPr>
          <p:cNvPr id="488" name="Google Shape;488;p31"/>
          <p:cNvSpPr txBox="1"/>
          <p:nvPr/>
        </p:nvSpPr>
        <p:spPr>
          <a:xfrm>
            <a:off x="1143000" y="4846320"/>
            <a:ext cx="4572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La especificación se mueve rápido; lo «estable» es reciente, no antiguo.</a:t>
            </a:r>
            <a:endParaRPr/>
          </a:p>
        </p:txBody>
      </p:sp>
      <p:sp>
        <p:nvSpPr>
          <p:cNvPr id="489" name="Google Shape;489;p31"/>
          <p:cNvSpPr/>
          <p:nvPr/>
        </p:nvSpPr>
        <p:spPr>
          <a:xfrm>
            <a:off x="6281928" y="4114800"/>
            <a:ext cx="5074920" cy="137160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31"/>
          <p:cNvSpPr txBox="1"/>
          <p:nvPr/>
        </p:nvSpPr>
        <p:spPr>
          <a:xfrm>
            <a:off x="6601968" y="43434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No siempre gana</a:t>
            </a:r>
            <a:endParaRPr/>
          </a:p>
        </p:txBody>
      </p:sp>
      <p:sp>
        <p:nvSpPr>
          <p:cNvPr id="491" name="Google Shape;491;p31"/>
          <p:cNvSpPr txBox="1"/>
          <p:nvPr/>
        </p:nvSpPr>
        <p:spPr>
          <a:xfrm>
            <a:off x="6601968" y="4846320"/>
            <a:ext cx="4572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Para trabajo ligero con el DOM, JS a secas es más simple y a menudo más rápido.</a:t>
            </a:r>
            <a:endParaRPr/>
          </a:p>
        </p:txBody>
      </p:sp>
      <p:sp>
        <p:nvSpPr>
          <p:cNvPr id="492" name="Google Shape;492;p31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5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Los diseños parlanchines entre JS y WASM pierden justo la velocidad que viniste a buscar. El encaje importa más que una tabla de posiciones.</a:t>
            </a:r>
            <a:endParaRPr/>
          </a:p>
        </p:txBody>
      </p:sp>
      <p:sp>
        <p:nvSpPr>
          <p:cNvPr id="493" name="Google Shape;493;p31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23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7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p3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4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32"/>
          <p:cNvSpPr/>
          <p:nvPr/>
        </p:nvSpPr>
        <p:spPr>
          <a:xfrm>
            <a:off x="822960" y="640080"/>
            <a:ext cx="2953512" cy="310896"/>
          </a:xfrm>
          <a:prstGeom prst="roundRect">
            <a:avLst>
              <a:gd fmla="val 16667" name="adj"/>
            </a:avLst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32"/>
          <p:cNvSpPr txBox="1"/>
          <p:nvPr/>
        </p:nvSpPr>
        <p:spPr>
          <a:xfrm>
            <a:off x="822960" y="658368"/>
            <a:ext cx="295351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HACIA DÓNDE VA</a:t>
            </a:r>
            <a:endParaRPr/>
          </a:p>
        </p:txBody>
      </p:sp>
      <p:sp>
        <p:nvSpPr>
          <p:cNvPr id="501" name="Google Shape;501;p32"/>
          <p:cNvSpPr txBox="1"/>
          <p:nvPr/>
        </p:nvSpPr>
        <p:spPr>
          <a:xfrm>
            <a:off x="822960" y="114300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WASM crece más allá del navegador</a:t>
            </a:r>
            <a:endParaRPr/>
          </a:p>
        </p:txBody>
      </p:sp>
      <p:sp>
        <p:nvSpPr>
          <p:cNvPr id="502" name="Google Shape;502;p32"/>
          <p:cNvSpPr/>
          <p:nvPr/>
        </p:nvSpPr>
        <p:spPr>
          <a:xfrm>
            <a:off x="822960" y="2560320"/>
            <a:ext cx="10543032" cy="960120"/>
          </a:xfrm>
          <a:prstGeom prst="roundRect">
            <a:avLst>
              <a:gd fmla="val 16667" name="adj"/>
            </a:avLst>
          </a:prstGeom>
          <a:solidFill>
            <a:srgbClr val="2A2047"/>
          </a:solidFill>
          <a:ln cap="flat" cmpd="sng" w="15225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32"/>
          <p:cNvSpPr txBox="1"/>
          <p:nvPr/>
        </p:nvSpPr>
        <p:spPr>
          <a:xfrm>
            <a:off x="1143000" y="2724912"/>
            <a:ext cx="39319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WASI 0.2: estable</a:t>
            </a:r>
            <a:endParaRPr/>
          </a:p>
        </p:txBody>
      </p:sp>
      <p:sp>
        <p:nvSpPr>
          <p:cNvPr id="504" name="Google Shape;504;p32"/>
          <p:cNvSpPr txBox="1"/>
          <p:nvPr/>
        </p:nvSpPr>
        <p:spPr>
          <a:xfrm>
            <a:off x="5212080" y="2724912"/>
            <a:ext cx="5943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Enero 2024. Más el Component Model: interoperabilidad tipada entre lenguajes.</a:t>
            </a:r>
            <a:endParaRPr/>
          </a:p>
        </p:txBody>
      </p:sp>
      <p:sp>
        <p:nvSpPr>
          <p:cNvPr id="505" name="Google Shape;505;p32"/>
          <p:cNvSpPr/>
          <p:nvPr/>
        </p:nvSpPr>
        <p:spPr>
          <a:xfrm>
            <a:off x="822960" y="3657600"/>
            <a:ext cx="10543032" cy="960120"/>
          </a:xfrm>
          <a:prstGeom prst="roundRect">
            <a:avLst>
              <a:gd fmla="val 16667" name="adj"/>
            </a:avLst>
          </a:prstGeom>
          <a:solidFill>
            <a:srgbClr val="2A2047"/>
          </a:solidFill>
          <a:ln cap="flat" cmpd="sng" w="15225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32"/>
          <p:cNvSpPr txBox="1"/>
          <p:nvPr/>
        </p:nvSpPr>
        <p:spPr>
          <a:xfrm>
            <a:off x="1143000" y="3822191"/>
            <a:ext cx="39319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WASI 0.3: async</a:t>
            </a:r>
            <a:endParaRPr/>
          </a:p>
        </p:txBody>
      </p:sp>
      <p:sp>
        <p:nvSpPr>
          <p:cNvPr id="507" name="Google Shape;507;p32"/>
          <p:cNvSpPr txBox="1"/>
          <p:nvPr/>
        </p:nvSpPr>
        <p:spPr>
          <a:xfrm>
            <a:off x="5212080" y="3822191"/>
            <a:ext cx="5943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Junio 2026. Async nativo con futures y streams; en Wasmtime y jco.</a:t>
            </a:r>
            <a:endParaRPr/>
          </a:p>
        </p:txBody>
      </p:sp>
      <p:sp>
        <p:nvSpPr>
          <p:cNvPr id="508" name="Google Shape;508;p32"/>
          <p:cNvSpPr/>
          <p:nvPr/>
        </p:nvSpPr>
        <p:spPr>
          <a:xfrm>
            <a:off x="822960" y="4754880"/>
            <a:ext cx="10543032" cy="960120"/>
          </a:xfrm>
          <a:prstGeom prst="roundRect">
            <a:avLst>
              <a:gd fmla="val 16667" name="adj"/>
            </a:avLst>
          </a:prstGeom>
          <a:solidFill>
            <a:srgbClr val="2A2047"/>
          </a:solidFill>
          <a:ln cap="flat" cmpd="sng" w="15225">
            <a:solidFill>
              <a:srgbClr val="5B4B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32"/>
          <p:cNvSpPr txBox="1"/>
          <p:nvPr/>
        </p:nvSpPr>
        <p:spPr>
          <a:xfrm>
            <a:off x="1143000" y="4919472"/>
            <a:ext cx="39319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Servidor y edge</a:t>
            </a:r>
            <a:endParaRPr/>
          </a:p>
        </p:txBody>
      </p:sp>
      <p:sp>
        <p:nvSpPr>
          <p:cNvPr id="510" name="Google Shape;510;p32"/>
          <p:cNvSpPr txBox="1"/>
          <p:nvPr/>
        </p:nvSpPr>
        <p:spPr>
          <a:xfrm>
            <a:off x="5212080" y="4919472"/>
            <a:ext cx="5943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Wasmtime, Node, Deno y las plataformas edge corren los mismos binarios.</a:t>
            </a:r>
            <a:endParaRPr/>
          </a:p>
        </p:txBody>
      </p:sp>
      <p:sp>
        <p:nvSpPr>
          <p:cNvPr id="511" name="Google Shape;511;p32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50" u="none" cap="none" strike="noStrike">
                <a:solidFill>
                  <a:srgbClr val="B9A8EC"/>
                </a:solidFill>
                <a:latin typeface="Calibri"/>
                <a:ea typeface="Calibri"/>
                <a:cs typeface="Calibri"/>
                <a:sym typeface="Calibri"/>
              </a:rPr>
              <a:t>Y Wasm 3.0 (sep 2025) añadió GC, así que Kotlin, Dart y Java ahora también compilan a él.</a:t>
            </a:r>
            <a:endParaRPr/>
          </a:p>
        </p:txBody>
      </p:sp>
      <p:sp>
        <p:nvSpPr>
          <p:cNvPr id="512" name="Google Shape;512;p32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24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6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p3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4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33"/>
          <p:cNvSpPr/>
          <p:nvPr/>
        </p:nvSpPr>
        <p:spPr>
          <a:xfrm>
            <a:off x="822960" y="1737360"/>
            <a:ext cx="146304" cy="3108960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33"/>
          <p:cNvSpPr txBox="1"/>
          <p:nvPr/>
        </p:nvSpPr>
        <p:spPr>
          <a:xfrm>
            <a:off x="1188720" y="1737360"/>
            <a:ext cx="100584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Empezamos con una línea de C++.</a:t>
            </a:r>
            <a:endParaRPr/>
          </a:p>
        </p:txBody>
      </p:sp>
      <p:sp>
        <p:nvSpPr>
          <p:cNvPr id="520" name="Google Shape;520;p33"/>
          <p:cNvSpPr txBox="1"/>
          <p:nvPr/>
        </p:nvSpPr>
        <p:spPr>
          <a:xfrm>
            <a:off x="1188720" y="2743200"/>
            <a:ext cx="100584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B9A8EC"/>
                </a:solidFill>
                <a:latin typeface="Georgia"/>
                <a:ea typeface="Georgia"/>
                <a:cs typeface="Georgia"/>
                <a:sym typeface="Georgia"/>
              </a:rPr>
              <a:t>Bajada, optimizada, emitida, enlazada, pulida,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B9A8EC"/>
                </a:solidFill>
                <a:latin typeface="Georgia"/>
                <a:ea typeface="Georgia"/>
                <a:cs typeface="Georgia"/>
                <a:sym typeface="Georgia"/>
              </a:rPr>
              <a:t>validada, compilada dos veces, y ahora corriendo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B9A8EC"/>
                </a:solidFill>
                <a:latin typeface="Georgia"/>
                <a:ea typeface="Georgia"/>
                <a:cs typeface="Georgia"/>
                <a:sym typeface="Georgia"/>
              </a:rPr>
              <a:t>en una caja de arena en tu navegador.</a:t>
            </a:r>
            <a:endParaRPr/>
          </a:p>
        </p:txBody>
      </p:sp>
      <p:sp>
        <p:nvSpPr>
          <p:cNvPr id="521" name="Google Shape;521;p33"/>
          <p:cNvSpPr txBox="1"/>
          <p:nvPr/>
        </p:nvSpPr>
        <p:spPr>
          <a:xfrm>
            <a:off x="1188720" y="4800600"/>
            <a:ext cx="100584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El fuente nunca fue el producto.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La toolchain es el producto.</a:t>
            </a:r>
            <a:endParaRPr/>
          </a:p>
        </p:txBody>
      </p:sp>
      <p:sp>
        <p:nvSpPr>
          <p:cNvPr id="522" name="Google Shape;522;p33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25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6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p3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34"/>
          <p:cNvSpPr/>
          <p:nvPr/>
        </p:nvSpPr>
        <p:spPr>
          <a:xfrm>
            <a:off x="822960" y="822960"/>
            <a:ext cx="146304" cy="2103120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34"/>
          <p:cNvSpPr txBox="1"/>
          <p:nvPr/>
        </p:nvSpPr>
        <p:spPr>
          <a:xfrm>
            <a:off x="1188720" y="914400"/>
            <a:ext cx="1005840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Gracias.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1" lang="en-US" sz="200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Hablemos de compiladores y toolchains.</a:t>
            </a:r>
            <a:endParaRPr/>
          </a:p>
        </p:txBody>
      </p:sp>
      <p:sp>
        <p:nvSpPr>
          <p:cNvPr id="530" name="Google Shape;530;p34"/>
          <p:cNvSpPr/>
          <p:nvPr/>
        </p:nvSpPr>
        <p:spPr>
          <a:xfrm>
            <a:off x="822960" y="3566160"/>
            <a:ext cx="10543032" cy="201168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34"/>
          <p:cNvSpPr txBox="1"/>
          <p:nvPr/>
        </p:nvSpPr>
        <p:spPr>
          <a:xfrm>
            <a:off x="1280160" y="3886200"/>
            <a:ext cx="96012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Kyungtak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6A6280"/>
                </a:solidFill>
                <a:latin typeface="Calibri"/>
                <a:ea typeface="Calibri"/>
                <a:cs typeface="Calibri"/>
                <a:sym typeface="Calibri"/>
              </a:rPr>
              <a:t>Integración y releases de LLVM, Google Toolchains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4B8A"/>
                </a:solidFill>
                <a:latin typeface="Consolas"/>
                <a:ea typeface="Consolas"/>
                <a:cs typeface="Consolas"/>
                <a:sym typeface="Consolas"/>
              </a:rPr>
              <a:t>Repo + diapositivas:  github.com/kevinwkt/from-cpp-to-the-browser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4B8A"/>
                </a:solidFill>
                <a:latin typeface="Consolas"/>
                <a:ea typeface="Consolas"/>
                <a:cs typeface="Consolas"/>
                <a:sym typeface="Consolas"/>
              </a:rPr>
              <a:t>Demo en vivo:   kevinwkt.github.io/from-cpp-to-the-browser/demo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4B8A"/>
                </a:solidFill>
                <a:latin typeface="Consolas"/>
                <a:ea typeface="Consolas"/>
                <a:cs typeface="Consolas"/>
                <a:sym typeface="Consolas"/>
              </a:rPr>
              <a:t>La grabación se publica después de la charla.</a:t>
            </a:r>
            <a:endParaRPr/>
          </a:p>
        </p:txBody>
      </p:sp>
      <p:sp>
        <p:nvSpPr>
          <p:cNvPr id="532" name="Google Shape;532;p34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26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0"/>
          <p:cNvSpPr/>
          <p:nvPr/>
        </p:nvSpPr>
        <p:spPr>
          <a:xfrm>
            <a:off x="822960" y="640080"/>
            <a:ext cx="3118104" cy="310896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0"/>
          <p:cNvSpPr txBox="1"/>
          <p:nvPr/>
        </p:nvSpPr>
        <p:spPr>
          <a:xfrm>
            <a:off x="822960" y="658368"/>
            <a:ext cx="311810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PASO 3 · NUESTRO ESPÉCIMEN</a:t>
            </a:r>
            <a:endParaRPr/>
          </a:p>
        </p:txBody>
      </p:sp>
      <p:sp>
        <p:nvSpPr>
          <p:cNvPr id="234" name="Google Shape;234;p20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Lo que -O2 le hizo a add()</a:t>
            </a:r>
            <a:endParaRPr/>
          </a:p>
        </p:txBody>
      </p:sp>
      <p:sp>
        <p:nvSpPr>
          <p:cNvPr id="235" name="Google Shape;235;p20"/>
          <p:cNvSpPr/>
          <p:nvPr/>
        </p:nvSpPr>
        <p:spPr>
          <a:xfrm>
            <a:off x="822960" y="2377440"/>
            <a:ext cx="5029200" cy="310896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0"/>
          <p:cNvSpPr txBox="1"/>
          <p:nvPr/>
        </p:nvSpPr>
        <p:spPr>
          <a:xfrm>
            <a:off x="1097280" y="260604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LLVM IR en -O2</a:t>
            </a:r>
            <a:endParaRPr/>
          </a:p>
        </p:txBody>
      </p:sp>
      <p:sp>
        <p:nvSpPr>
          <p:cNvPr id="237" name="Google Shape;237;p20"/>
          <p:cNvSpPr txBox="1"/>
          <p:nvPr/>
        </p:nvSpPr>
        <p:spPr>
          <a:xfrm>
            <a:off x="1097280" y="3063240"/>
            <a:ext cx="457200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define i32 @_Z3addii(i32 %0, i32 %1) {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  %3 = shl nsw i32 %0,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  %4 = add nsw i32 %3, %1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  ret i32 %4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38" name="Google Shape;238;p20"/>
          <p:cNvSpPr/>
          <p:nvPr/>
        </p:nvSpPr>
        <p:spPr>
          <a:xfrm>
            <a:off x="6336792" y="2377440"/>
            <a:ext cx="5029200" cy="3108960"/>
          </a:xfrm>
          <a:prstGeom prst="roundRect">
            <a:avLst>
              <a:gd fmla="val 16667" name="adj"/>
            </a:avLst>
          </a:prstGeom>
          <a:solidFill>
            <a:srgbClr val="1C1430"/>
          </a:solidFill>
          <a:ln>
            <a:noFill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0"/>
          <p:cNvSpPr txBox="1"/>
          <p:nvPr/>
        </p:nvSpPr>
        <p:spPr>
          <a:xfrm>
            <a:off x="6611112" y="260604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B9A8EC"/>
                </a:solidFill>
                <a:latin typeface="Calibri"/>
                <a:ea typeface="Calibri"/>
                <a:cs typeface="Calibri"/>
                <a:sym typeface="Calibri"/>
              </a:rPr>
              <a:t>QUÉ CAMBIÓ</a:t>
            </a:r>
            <a:endParaRPr/>
          </a:p>
        </p:txBody>
      </p:sp>
      <p:sp>
        <p:nvSpPr>
          <p:cNvPr id="240" name="Google Shape;240;p20"/>
          <p:cNvSpPr txBox="1"/>
          <p:nvPr/>
        </p:nvSpPr>
        <p:spPr>
          <a:xfrm>
            <a:off x="6611112" y="3063240"/>
            <a:ext cx="457200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alloca / store / load  →  desaparecen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mem2reg: los valores viven en registros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mul %a, 2  →  shl %a,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instcombine: un shift es más barato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9 instrucciones  →  3</a:t>
            </a:r>
            <a:endParaRPr/>
          </a:p>
        </p:txBody>
      </p:sp>
      <p:sp>
        <p:nvSpPr>
          <p:cNvPr id="241" name="Google Shape;241;p20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40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Mismo significado, un tercio del trabajo. El truco a*2 → shift es del optimizador, no del frontend.</a:t>
            </a:r>
            <a:endParaRPr/>
          </a:p>
        </p:txBody>
      </p:sp>
      <p:sp>
        <p:nvSpPr>
          <p:cNvPr id="242" name="Google Shape;242;p20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11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0"/>
          <p:cNvSpPr/>
          <p:nvPr/>
        </p:nvSpPr>
        <p:spPr>
          <a:xfrm>
            <a:off x="822960" y="640080"/>
            <a:ext cx="3118104" cy="310896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0"/>
          <p:cNvSpPr txBox="1"/>
          <p:nvPr/>
        </p:nvSpPr>
        <p:spPr>
          <a:xfrm>
            <a:off x="822960" y="658368"/>
            <a:ext cx="311810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PASO 4 · NUESTRO ESPÉCIMEN</a:t>
            </a:r>
            <a:endParaRPr/>
          </a:p>
        </p:txBody>
      </p:sp>
      <p:sp>
        <p:nvSpPr>
          <p:cNvPr id="234" name="Google Shape;234;p20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add() como WebAssembly</a:t>
            </a:r>
            <a:endParaRPr/>
          </a:p>
        </p:txBody>
      </p:sp>
      <p:sp>
        <p:nvSpPr>
          <p:cNvPr id="235" name="Google Shape;235;p20"/>
          <p:cNvSpPr/>
          <p:nvPr/>
        </p:nvSpPr>
        <p:spPr>
          <a:xfrm>
            <a:off x="822960" y="2377440"/>
            <a:ext cx="5029200" cy="310896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0"/>
          <p:cNvSpPr txBox="1"/>
          <p:nvPr/>
        </p:nvSpPr>
        <p:spPr>
          <a:xfrm>
            <a:off x="1097280" y="260604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TEXTO WASM  (wasm2wat add.wasm)</a:t>
            </a:r>
            <a:endParaRPr/>
          </a:p>
        </p:txBody>
      </p:sp>
      <p:sp>
        <p:nvSpPr>
          <p:cNvPr id="237" name="Google Shape;237;p20"/>
          <p:cNvSpPr txBox="1"/>
          <p:nvPr/>
        </p:nvSpPr>
        <p:spPr>
          <a:xfrm>
            <a:off x="1097280" y="3063240"/>
            <a:ext cx="457200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(func $add (param i32 i32) (result i32)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  local.get 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  i32.const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  i32.shl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  local.get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  i32.add)</a:t>
            </a:r>
            <a:endParaRPr/>
          </a:p>
        </p:txBody>
      </p:sp>
      <p:sp>
        <p:nvSpPr>
          <p:cNvPr id="238" name="Google Shape;238;p20"/>
          <p:cNvSpPr/>
          <p:nvPr/>
        </p:nvSpPr>
        <p:spPr>
          <a:xfrm>
            <a:off x="6336792" y="2377440"/>
            <a:ext cx="5029200" cy="3108960"/>
          </a:xfrm>
          <a:prstGeom prst="roundRect">
            <a:avLst>
              <a:gd fmla="val 16667" name="adj"/>
            </a:avLst>
          </a:prstGeom>
          <a:solidFill>
            <a:srgbClr val="1C1430"/>
          </a:solidFill>
          <a:ln>
            <a:noFill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0"/>
          <p:cNvSpPr txBox="1"/>
          <p:nvPr/>
        </p:nvSpPr>
        <p:spPr>
          <a:xfrm>
            <a:off x="6611112" y="260604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B9A8EC"/>
                </a:solidFill>
                <a:latin typeface="Calibri"/>
                <a:ea typeface="Calibri"/>
                <a:cs typeface="Calibri"/>
                <a:sym typeface="Calibri"/>
              </a:rPr>
              <a:t>LÉELO COMO UNA PILA</a:t>
            </a:r>
            <a:endParaRPr/>
          </a:p>
        </p:txBody>
      </p:sp>
      <p:sp>
        <p:nvSpPr>
          <p:cNvPr id="240" name="Google Shape;240;p20"/>
          <p:cNvSpPr txBox="1"/>
          <p:nvPr/>
        </p:nvSpPr>
        <p:spPr>
          <a:xfrm>
            <a:off x="6611112" y="3063240"/>
            <a:ext cx="457200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push a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push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shift left     →  a*2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push b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add            →  a*2 + b</a:t>
            </a:r>
            <a:endParaRPr/>
          </a:p>
        </p:txBody>
      </p:sp>
      <p:sp>
        <p:nvSpPr>
          <p:cNvPr id="241" name="Google Shape;241;p20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40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WASM es una máquina de pila. El archivo .wasm completo: unos 200 bytes, 14 de ellos código. La cuenta exacta depende de qué Clang lo construyó.</a:t>
            </a:r>
            <a:endParaRPr/>
          </a:p>
        </p:txBody>
      </p:sp>
      <p:sp>
        <p:nvSpPr>
          <p:cNvPr id="242" name="Google Shape;242;p20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14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0"/>
          <p:cNvSpPr/>
          <p:nvPr/>
        </p:nvSpPr>
        <p:spPr>
          <a:xfrm>
            <a:off x="822960" y="640080"/>
            <a:ext cx="3118104" cy="310896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0"/>
          <p:cNvSpPr txBox="1"/>
          <p:nvPr/>
        </p:nvSpPr>
        <p:spPr>
          <a:xfrm>
            <a:off x="822960" y="658368"/>
            <a:ext cx="311810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 FRONTERA</a:t>
            </a:r>
            <a:endParaRPr/>
          </a:p>
        </p:txBody>
      </p:sp>
      <p:sp>
        <p:nvSpPr>
          <p:cNvPr id="234" name="Google Shape;234;p20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Cruzar JS ↔ WASM</a:t>
            </a:r>
            <a:endParaRPr/>
          </a:p>
        </p:txBody>
      </p:sp>
      <p:sp>
        <p:nvSpPr>
          <p:cNvPr id="235" name="Google Shape;235;p20"/>
          <p:cNvSpPr/>
          <p:nvPr/>
        </p:nvSpPr>
        <p:spPr>
          <a:xfrm>
            <a:off x="822960" y="2377440"/>
            <a:ext cx="5029200" cy="310896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0"/>
          <p:cNvSpPr txBox="1"/>
          <p:nvPr/>
        </p:nvSpPr>
        <p:spPr>
          <a:xfrm>
            <a:off x="1097280" y="260604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TU LADO  (JavaScript)</a:t>
            </a:r>
            <a:endParaRPr/>
          </a:p>
        </p:txBody>
      </p:sp>
      <p:sp>
        <p:nvSpPr>
          <p:cNvPr id="237" name="Google Shape;237;p20"/>
          <p:cNvSpPr txBox="1"/>
          <p:nvPr/>
        </p:nvSpPr>
        <p:spPr>
          <a:xfrm>
            <a:off x="1097280" y="3022600"/>
            <a:ext cx="448056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// 1  fetch, validar, compilar: una llamada</a:t>
            </a:r>
          </a:p>
          <a:p>
            <a:pPr indent="0" lvl="0" marL="0" marR="0" rtl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const { instance } = await WebAssembly</a:t>
            </a:r>
          </a:p>
          <a:p>
            <a:pPr indent="0" lvl="0" marL="0" marR="0" rtl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  .instantiateStreaming(fetch("add.wasm"));</a:t>
            </a:r>
          </a:p>
          <a:p>
            <a:pPr indent="0" lvl="0" marL="0" marR="0" rtl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/>
            </a:r>
          </a:p>
          <a:p>
            <a:pPr indent="0" lvl="0" marL="0" marR="0" rtl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// 2  llamar un export: entran números, salen números</a:t>
            </a:r>
          </a:p>
          <a:p>
            <a:pPr indent="0" lvl="0" marL="0" marR="0" rtl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instance.exports.add(20, 2);          // 42</a:t>
            </a:r>
          </a:p>
          <a:p>
            <a:pPr indent="0" lvl="0" marL="0" marR="0" rtl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/>
            </a:r>
          </a:p>
          <a:p>
            <a:pPr indent="0" lvl="0" marL="0" marR="0" rtl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// 3  mirar su memoria: una vista, no una copia</a:t>
            </a:r>
          </a:p>
          <a:p>
            <a:pPr indent="0" lvl="0" marL="0" marR="0" rtl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const { memory } = instance.exports;</a:t>
            </a:r>
          </a:p>
          <a:p>
            <a:pPr indent="0" lvl="0" marL="0" marR="0" rtl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const px = new Uint8ClampedArray(</a:t>
            </a:r>
          </a:p>
          <a:p>
            <a:pPr indent="0" lvl="0" marL="0" marR="0" rtl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C1430"/>
                </a:solidFill>
                <a:latin typeface="Consolas"/>
                <a:ea typeface="Consolas"/>
                <a:cs typeface="Consolas"/>
                <a:sym typeface="Consolas"/>
              </a:rPr>
              <a:t>  memory.buffer, ptr, w * h * 4);</a:t>
            </a:r>
          </a:p>
        </p:txBody>
      </p:sp>
      <p:sp>
        <p:nvSpPr>
          <p:cNvPr id="238" name="Google Shape;238;p20"/>
          <p:cNvSpPr/>
          <p:nvPr/>
        </p:nvSpPr>
        <p:spPr>
          <a:xfrm>
            <a:off x="6336792" y="2377440"/>
            <a:ext cx="5029200" cy="3108960"/>
          </a:xfrm>
          <a:prstGeom prst="roundRect">
            <a:avLst>
              <a:gd fmla="val 16667" name="adj"/>
            </a:avLst>
          </a:prstGeom>
          <a:solidFill>
            <a:srgbClr val="1C1430"/>
          </a:solidFill>
          <a:ln>
            <a:noFill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0"/>
          <p:cNvSpPr txBox="1"/>
          <p:nvPr/>
        </p:nvSpPr>
        <p:spPr>
          <a:xfrm>
            <a:off x="6611112" y="260604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B9A8EC"/>
                </a:solidFill>
                <a:latin typeface="Calibri"/>
                <a:ea typeface="Calibri"/>
                <a:cs typeface="Calibri"/>
                <a:sym typeface="Calibri"/>
              </a:rPr>
              <a:t>LO QUE MUERDE, Y DÓNDE LO VERÁS</a:t>
            </a:r>
            <a:endParaRPr/>
          </a:p>
        </p:txBody>
      </p:sp>
      <p:sp>
        <p:nvSpPr>
          <p:cNvPr id="240" name="Google Shape;240;p20"/>
          <p:cNvSpPr txBox="1"/>
          <p:nvPr/>
        </p:nvSpPr>
        <p:spPr>
          <a:xfrm>
            <a:off x="6611620" y="2946400"/>
            <a:ext cx="4480560" cy="241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Solo cruzan números</a:t>
            </a: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i32, i64, f32, f64. Un i64 llega como BigInt. Pestaña 3, tarjeta 2.</a:t>
            </a:r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Strings y arreglos son puntero + longitud</a:t>
            </a: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Codifica a bytes, escríbelos en la memoria, pasa el índice y la cuenta. Pestaña 3, tarjeta 3.</a:t>
            </a:r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memory.grow() desconecta las vistas viejas</a:t>
            </a: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 ArrayBuffer se reemplaza; vuelve a crear tus typed arrays. Pestaña 3, tarjeta 5.</a:t>
            </a:r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FB6A6"/>
                </a:solidFill>
                <a:latin typeface="Georgia"/>
                <a:ea typeface="Georgia"/>
                <a:cs typeface="Georgia"/>
                <a:sym typeface="Georgia"/>
              </a:rPr>
              <a:t>Cruza una vez, trabaja mucho</a:t>
            </a: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Cada llamada tiene un costo fijo. Entrega un cuadro, no un píxel.</a:t>
            </a:r>
          </a:p>
        </p:txBody>
      </p:sp>
      <p:sp>
        <p:nvSpPr>
          <p:cNvPr id="241" name="Google Shape;241;p20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400" u="none" cap="none" strike="noStrike">
                <a:solidFill>
                  <a:srgbClr val="5B4B8A"/>
                </a:solidFill>
                <a:latin typeface="Calibri"/>
                <a:ea typeface="Calibri"/>
                <a:cs typeface="Calibri"/>
                <a:sym typeface="Calibri"/>
              </a:rPr>
              <a:t>Emscripten y wasm-bindgen escriben este pegamento por ti. Saber qué hace es cómo conservas la velocidad que viniste a buscar.</a:t>
            </a:r>
            <a:endParaRPr/>
          </a:p>
        </p:txBody>
      </p:sp>
      <p:sp>
        <p:nvSpPr>
          <p:cNvPr id="242" name="Google Shape;242;p20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16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2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2"/>
          <p:cNvSpPr/>
          <p:nvPr/>
        </p:nvSpPr>
        <p:spPr>
          <a:xfrm>
            <a:off x="822960" y="640080"/>
            <a:ext cx="3118104" cy="310896"/>
          </a:xfrm>
          <a:prstGeom prst="roundRect">
            <a:avLst>
              <a:gd fmla="val 16667" name="adj"/>
            </a:avLst>
          </a:prstGeom>
          <a:solidFill>
            <a:srgbClr val="5B4B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2"/>
          <p:cNvSpPr txBox="1"/>
          <p:nvPr/>
        </p:nvSpPr>
        <p:spPr>
          <a:xfrm>
            <a:off x="822960" y="658368"/>
            <a:ext cx="311810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PASO 4 · PULIR</a:t>
            </a:r>
            <a:endParaRPr/>
          </a:p>
        </p:txBody>
      </p:sp>
      <p:sp>
        <p:nvSpPr>
          <p:cNvPr id="283" name="Google Shape;283;p22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1C1430"/>
                </a:solidFill>
                <a:latin typeface="Georgia"/>
                <a:ea typeface="Georgia"/>
                <a:cs typeface="Georgia"/>
                <a:sym typeface="Georgia"/>
              </a:rPr>
              <a:t>wasm-opt: lo que hace Binaryen</a:t>
            </a:r>
            <a:endParaRPr/>
          </a:p>
        </p:txBody>
      </p:sp>
      <p:sp>
        <p:nvSpPr>
          <p:cNvPr id="2000" name="Google Shape;2000;p22"/>
          <p:cNvSpPr/>
          <p:nvPr/>
        </p:nvSpPr>
        <p:spPr>
          <a:xfrm>
            <a:off x="822960" y="2032000"/>
            <a:ext cx="2499995" cy="289560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1" name="Google Shape;2001;p22"/>
          <p:cNvSpPr/>
          <p:nvPr/>
        </p:nvSpPr>
        <p:spPr>
          <a:xfrm>
            <a:off x="822960" y="2032000"/>
            <a:ext cx="2499995" cy="128270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2" name="Google Shape;2002;p22"/>
          <p:cNvSpPr txBox="1"/>
          <p:nvPr/>
        </p:nvSpPr>
        <p:spPr>
          <a:xfrm>
            <a:off x="1051560" y="2260600"/>
            <a:ext cx="2042795" cy="55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Locales fusionadas</a:t>
            </a:r>
            <a:endParaRPr/>
          </a:p>
        </p:txBody>
      </p:sp>
      <p:sp>
        <p:nvSpPr>
          <p:cNvPr id="2003" name="Google Shape;2003;p22"/>
          <p:cNvSpPr txBox="1"/>
          <p:nvPr/>
        </p:nvSpPr>
        <p:spPr>
          <a:xfrm>
            <a:off x="1051560" y="2844800"/>
            <a:ext cx="20427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El backend de LLVM gasta una local por valor. Binaryen las reusa y deja los valores en la pila.</a:t>
            </a:r>
            <a:endParaRPr/>
          </a:p>
        </p:txBody>
      </p:sp>
      <p:sp>
        <p:nvSpPr>
          <p:cNvPr id="2004" name="Google Shape;2004;p22"/>
          <p:cNvSpPr/>
          <p:nvPr/>
        </p:nvSpPr>
        <p:spPr>
          <a:xfrm>
            <a:off x="1051560" y="3810000"/>
            <a:ext cx="2042795" cy="939800"/>
          </a:xfrm>
          <a:prstGeom prst="roundRect">
            <a:avLst>
              <a:gd fmla="val 16667" name="adj"/>
            </a:avLst>
          </a:prstGeom>
          <a:solidFill>
            <a:srgbClr val="1C14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5" name="Google Shape;2005;p22"/>
          <p:cNvSpPr txBox="1"/>
          <p:nvPr/>
        </p:nvSpPr>
        <p:spPr>
          <a:xfrm>
            <a:off x="1153160" y="3911600"/>
            <a:ext cx="1839595" cy="73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local.set 2</a:t>
            </a:r>
          </a:p>
          <a:p>
            <a:pPr indent="0" lvl="0" marL="0" marR="0" rtl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local.get 2</a:t>
            </a:r>
          </a:p>
          <a:p>
            <a:pPr indent="0" lvl="0" marL="0" marR="0" rtl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i32.add</a:t>
            </a:r>
          </a:p>
          <a:p>
            <a:pPr indent="0" lvl="0" marL="0" marR="0" rtl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→ i32.add, sin local</a:t>
            </a:r>
          </a:p>
        </p:txBody>
      </p:sp>
      <p:sp>
        <p:nvSpPr>
          <p:cNvPr id="2010" name="Google Shape;2010;p22"/>
          <p:cNvSpPr/>
          <p:nvPr/>
        </p:nvSpPr>
        <p:spPr>
          <a:xfrm>
            <a:off x="3500755" y="2032000"/>
            <a:ext cx="2499995" cy="289560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1" name="Google Shape;2011;p22"/>
          <p:cNvSpPr/>
          <p:nvPr/>
        </p:nvSpPr>
        <p:spPr>
          <a:xfrm>
            <a:off x="3500755" y="2032000"/>
            <a:ext cx="2499995" cy="128270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2" name="Google Shape;2012;p22"/>
          <p:cNvSpPr txBox="1"/>
          <p:nvPr/>
        </p:nvSpPr>
        <p:spPr>
          <a:xfrm>
            <a:off x="3729355" y="2260600"/>
            <a:ext cx="2042795" cy="55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Peepholes sobre ops WASM</a:t>
            </a:r>
            <a:endParaRPr/>
          </a:p>
        </p:txBody>
      </p:sp>
      <p:sp>
        <p:nvSpPr>
          <p:cNvPr id="2013" name="Google Shape;2013;p22"/>
          <p:cNvSpPr txBox="1"/>
          <p:nvPr/>
        </p:nvSpPr>
        <p:spPr>
          <a:xfrm>
            <a:off x="3729355" y="2844800"/>
            <a:ext cx="20427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Reescrituras que LLVM nunca ve, porque esas formas solo existen tras la selección de instrucciones.</a:t>
            </a:r>
            <a:endParaRPr/>
          </a:p>
        </p:txBody>
      </p:sp>
      <p:sp>
        <p:nvSpPr>
          <p:cNvPr id="2014" name="Google Shape;2014;p22"/>
          <p:cNvSpPr/>
          <p:nvPr/>
        </p:nvSpPr>
        <p:spPr>
          <a:xfrm>
            <a:off x="3729355" y="3810000"/>
            <a:ext cx="2042795" cy="939800"/>
          </a:xfrm>
          <a:prstGeom prst="roundRect">
            <a:avLst>
              <a:gd fmla="val 16667" name="adj"/>
            </a:avLst>
          </a:prstGeom>
          <a:solidFill>
            <a:srgbClr val="1C14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5" name="Google Shape;2015;p22"/>
          <p:cNvSpPr txBox="1"/>
          <p:nvPr/>
        </p:nvSpPr>
        <p:spPr>
          <a:xfrm>
            <a:off x="3830955" y="3911600"/>
            <a:ext cx="1839595" cy="73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c (then 1)</a:t>
            </a:r>
          </a:p>
          <a:p>
            <a:pPr indent="0" lvl="0" marL="0" marR="0" rtl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(else 0)</a:t>
            </a:r>
          </a:p>
          <a:p>
            <a:pPr indent="0" lvl="0" marL="0" marR="0" rtl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→ c</a:t>
            </a:r>
          </a:p>
          <a:p>
            <a:pPr indent="0" lvl="0" marL="0" marR="0" rtl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  (c ya es 0 o 1)</a:t>
            </a:r>
          </a:p>
        </p:txBody>
      </p:sp>
      <p:sp>
        <p:nvSpPr>
          <p:cNvPr id="2020" name="Google Shape;2020;p22"/>
          <p:cNvSpPr/>
          <p:nvPr/>
        </p:nvSpPr>
        <p:spPr>
          <a:xfrm>
            <a:off x="6178550" y="2032000"/>
            <a:ext cx="2499995" cy="289560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1" name="Google Shape;2021;p22"/>
          <p:cNvSpPr/>
          <p:nvPr/>
        </p:nvSpPr>
        <p:spPr>
          <a:xfrm>
            <a:off x="6178550" y="2032000"/>
            <a:ext cx="2499995" cy="128270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2" name="Google Shape;2022;p22"/>
          <p:cNvSpPr txBox="1"/>
          <p:nvPr/>
        </p:nvSpPr>
        <p:spPr>
          <a:xfrm>
            <a:off x="6407150" y="2260600"/>
            <a:ext cx="2042795" cy="55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Vista de todo el módulo</a:t>
            </a:r>
            <a:endParaRPr/>
          </a:p>
        </p:txBody>
      </p:sp>
      <p:sp>
        <p:nvSpPr>
          <p:cNvPr id="2023" name="Google Shape;2023;p22"/>
          <p:cNvSpPr txBox="1"/>
          <p:nvPr/>
        </p:nvSpPr>
        <p:spPr>
          <a:xfrm>
            <a:off x="6407150" y="2844800"/>
            <a:ext cx="20427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Todas las funciones a la vez: los cuerpos idénticos se fusionan, y lo que ningún export alcanza desaparece.</a:t>
            </a:r>
            <a:endParaRPr/>
          </a:p>
        </p:txBody>
      </p:sp>
      <p:sp>
        <p:nvSpPr>
          <p:cNvPr id="2024" name="Google Shape;2024;p22"/>
          <p:cNvSpPr/>
          <p:nvPr/>
        </p:nvSpPr>
        <p:spPr>
          <a:xfrm>
            <a:off x="6407150" y="3810000"/>
            <a:ext cx="2042795" cy="939800"/>
          </a:xfrm>
          <a:prstGeom prst="roundRect">
            <a:avLst>
              <a:gd fmla="val 16667" name="adj"/>
            </a:avLst>
          </a:prstGeom>
          <a:solidFill>
            <a:srgbClr val="1C14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5" name="Google Shape;2025;p22"/>
          <p:cNvSpPr txBox="1"/>
          <p:nvPr/>
        </p:nvSpPr>
        <p:spPr>
          <a:xfrm>
            <a:off x="6508750" y="3911600"/>
            <a:ext cx="1839595" cy="73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func $f … func $g</a:t>
            </a:r>
          </a:p>
          <a:p>
            <a:pPr indent="0" lvl="0" marL="0" marR="0" rtl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mismos bytes</a:t>
            </a:r>
          </a:p>
          <a:p>
            <a:pPr indent="0" lvl="0" marL="0" marR="0" rtl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→ una sola función</a:t>
            </a:r>
          </a:p>
          <a:p>
            <a:pPr indent="0" lvl="0" marL="0" marR="0" rtl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→ inalcanzable: fuera</a:t>
            </a:r>
          </a:p>
        </p:txBody>
      </p:sp>
      <p:sp>
        <p:nvSpPr>
          <p:cNvPr id="2030" name="Google Shape;2030;p22"/>
          <p:cNvSpPr/>
          <p:nvPr/>
        </p:nvSpPr>
        <p:spPr>
          <a:xfrm>
            <a:off x="8856345" y="2032000"/>
            <a:ext cx="2499995" cy="2895600"/>
          </a:xfrm>
          <a:prstGeom prst="roundRect">
            <a:avLst>
              <a:gd fmla="val 16667" name="adj"/>
            </a:avLst>
          </a:prstGeom>
          <a:solidFill>
            <a:srgbClr val="FAF8FF"/>
          </a:solidFill>
          <a:ln cap="flat" cmpd="sng" w="19050">
            <a:solidFill>
              <a:srgbClr val="EFEAFC"/>
            </a:solidFill>
            <a:prstDash val="solid"/>
            <a:round/>
            <a:headEnd len="sm" w="sm" type="none"/>
            <a:tailEnd len="sm" w="sm" type="none"/>
          </a:ln>
          <a:effectLst>
            <a:outerShdw blurRad="60000" rotWithShape="0" dir="5400000" dist="25000">
              <a:srgbClr val="1C1430">
                <a:alpha val="1803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1" name="Google Shape;2031;p22"/>
          <p:cNvSpPr/>
          <p:nvPr/>
        </p:nvSpPr>
        <p:spPr>
          <a:xfrm>
            <a:off x="8856345" y="2032000"/>
            <a:ext cx="2499995" cy="128270"/>
          </a:xfrm>
          <a:prstGeom prst="rect">
            <a:avLst/>
          </a:prstGeom>
          <a:solidFill>
            <a:srgbClr val="1FB6A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2" name="Google Shape;2032;p22"/>
          <p:cNvSpPr txBox="1"/>
          <p:nvPr/>
        </p:nvSpPr>
        <p:spPr>
          <a:xfrm>
            <a:off x="9084945" y="2260600"/>
            <a:ext cx="2042795" cy="55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5B4B8A"/>
                </a:solidFill>
                <a:latin typeface="Georgia"/>
                <a:ea typeface="Georgia"/>
                <a:cs typeface="Georgia"/>
                <a:sym typeface="Georgia"/>
              </a:rPr>
              <a:t>Empaquetado de memoria</a:t>
            </a:r>
            <a:endParaRPr/>
          </a:p>
        </p:txBody>
      </p:sp>
      <p:sp>
        <p:nvSpPr>
          <p:cNvPr id="2033" name="Google Shape;2033;p22"/>
          <p:cNvSpPr txBox="1"/>
          <p:nvPr/>
        </p:nvSpPr>
        <p:spPr>
          <a:xfrm>
            <a:off x="9084945" y="2844800"/>
            <a:ext cx="20427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1C1430"/>
                </a:solidFill>
                <a:latin typeface="Calibri"/>
                <a:ea typeface="Calibri"/>
                <a:cs typeface="Calibri"/>
                <a:sym typeface="Calibri"/>
              </a:rPr>
              <a:t>Los segmentos de datos llenos de ceros desaparecen. La memoria lineal empieza en cero de todos modos.</a:t>
            </a:r>
            <a:endParaRPr/>
          </a:p>
        </p:txBody>
      </p:sp>
      <p:sp>
        <p:nvSpPr>
          <p:cNvPr id="2034" name="Google Shape;2034;p22"/>
          <p:cNvSpPr/>
          <p:nvPr/>
        </p:nvSpPr>
        <p:spPr>
          <a:xfrm>
            <a:off x="9084945" y="3810000"/>
            <a:ext cx="2042795" cy="939800"/>
          </a:xfrm>
          <a:prstGeom prst="roundRect">
            <a:avLst>
              <a:gd fmla="val 16667" name="adj"/>
            </a:avLst>
          </a:prstGeom>
          <a:solidFill>
            <a:srgbClr val="1C14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5" name="Google Shape;2035;p22"/>
          <p:cNvSpPr txBox="1"/>
          <p:nvPr/>
        </p:nvSpPr>
        <p:spPr>
          <a:xfrm>
            <a:off x="9186545" y="3911600"/>
            <a:ext cx="1839595" cy="73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(data "\00 … \00 \01")</a:t>
            </a:r>
          </a:p>
          <a:p>
            <a:pPr indent="0" lvl="0" marL="0" marR="0" rtl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→ (data "\01") al final</a:t>
            </a:r>
          </a:p>
          <a:p>
            <a:pPr indent="0" lvl="0" marL="0" marR="0" rtl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FB6A6"/>
                </a:solidFill>
                <a:latin typeface="Consolas"/>
                <a:ea typeface="Consolas"/>
                <a:cs typeface="Consolas"/>
                <a:sym typeface="Consolas"/>
              </a:rPr>
              <a:t>→ 60 KB menos por la red</a:t>
            </a:r>
          </a:p>
        </p:txBody>
      </p:sp>
      <p:sp>
        <p:nvSpPr>
          <p:cNvPr id="304" name="Google Shape;304;p22"/>
          <p:cNvSpPr/>
          <p:nvPr/>
        </p:nvSpPr>
        <p:spPr>
          <a:xfrm>
            <a:off x="822960" y="5105400"/>
            <a:ext cx="10515600" cy="1168400"/>
          </a:xfrm>
          <a:prstGeom prst="roundRect">
            <a:avLst>
              <a:gd fmla="val 8000" name="adj"/>
            </a:avLst>
          </a:prstGeom>
          <a:solidFill>
            <a:srgbClr val="1C14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22"/>
          <p:cNvSpPr txBox="1"/>
          <p:nvPr/>
        </p:nvSpPr>
        <p:spPr>
          <a:xfrm>
            <a:off x="1066800" y="5219700"/>
            <a:ext cx="9906000" cy="20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B9A8EC"/>
                </a:solidFill>
                <a:latin typeface="Calibri"/>
                <a:ea typeface="Calibri"/>
                <a:cs typeface="Calibri"/>
                <a:sym typeface="Calibri"/>
              </a:rPr>
              <a:t>POR QUÉ AQUÍ NO CAMBIÓ NADA · MEDIDO CON BINARYEN 133 EN ESTA DEMO</a:t>
            </a:r>
            <a:endParaRPr/>
          </a:p>
        </p:txBody>
      </p:sp>
      <p:sp>
        <p:nvSpPr>
          <p:cNvPr id="307" name="Google Shape;307;p22"/>
          <p:cNvSpPr txBox="1"/>
          <p:nvPr/>
        </p:nvSpPr>
        <p:spPr>
          <a:xfrm>
            <a:off x="1066800" y="5461000"/>
            <a:ext cx="100330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Módulo -O3: 2,374 → 2,383 bytes, 558 → 558 instrucciones. Solo cambiaron los números de las locales; los 9 bytes extra son una sección de metadatos.</a:t>
            </a:r>
          </a:p>
          <a:p>
            <a:pPr indent="0" lvl="0" marL="0" marR="0" rtl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LLVM ya tenía el programa completo: un solo archivo fuente, sin libc, exports explícitos. Inlining, DCE y las locales quedaron resueltos en -O3.</a:t>
            </a:r>
          </a:p>
          <a:p>
            <a:pPr indent="0" lvl="0" marL="0" marR="0" rtl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Módulo -O0: 3,432 → 2,644 bytes, 23% más chico. wasm-opt rehace buena parte del trabajo del optimizador a posteriori, pero no todo: -O3 da 2,374.</a:t>
            </a:r>
          </a:p>
          <a:p>
            <a:pPr indent="0" lvl="0" marL="0" marR="0" rtl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Una app real con Emscripten: docenas de objetos, libc, pegamento de runtime. Ahí la vista de todo el módulo suele quitar entre 10 y 20%.</a:t>
            </a:r>
          </a:p>
        </p:txBody>
      </p:sp>
      <p:sp>
        <p:nvSpPr>
          <p:cNvPr id="303" name="Google Shape;303;p22"/>
          <p:cNvSpPr txBox="1"/>
          <p:nvPr/>
        </p:nvSpPr>
        <p:spPr>
          <a:xfrm>
            <a:off x="11430000" y="6446520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A6280"/>
                </a:solidFill>
                <a:latin typeface="Consolas"/>
                <a:ea typeface="Consolas"/>
                <a:cs typeface="Consolas"/>
                <a:sym typeface="Consolas"/>
              </a:rPr>
              <a:t>13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